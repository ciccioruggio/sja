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INTRO (15 sec)
"Good morning everyone. Today I'm going to talk about AI in web and app development — specifically, how artificial intelligence is changing the way developers like us write code and build products. This is a topic I find genuinely exciting, because it directly affects the work we're learning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WHAT IS AI (30 sec)
"First, a quick definition. When we talk about AI in development, we're mainly talking about three things. Machine learning — systems that learn patterns from data. Large Language Models, or LLMs — like ChatGPT or Claude — which are trained on huge amounts of text and can understand and generate language AND code. And Generative AI, which is the broader category of tools that create new content. These are no longer research projects — they're tools developers use every single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TOOLS (45 sec)
"So what does this look like in practice? There are four main tools every developer should know right now. GitHub Copilot integrates directly into VS Code and autocompletes your code as you type — it can write entire functions from a single comment. ChatGPT and Claude work as AI assistants — you can paste an error message and get an explanation instantly. v0 by Vercel lets you describe a UI in plain English and it generates ready-to-use React components. And Cursor is a full code editor built around AI — you can literally chat with your codebase."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BEFORE vs AFTER (40 sec)
"To understand the real impact, let's compare. Without AI, writing a login form takes two or three hours. With AI, you describe what you want and you have working code in two minutes. Debugging a JavaScript error used to mean thirty minutes of searching Stack Overflow. Now you paste the error into ChatGPT and get an explanation in seconds. Building a responsive landing page? Days become hours. The numbers are dramatic — but the key point is this: AI doesn't replace you. It removes the boring, repetitive parts so you can focus on the creative and logical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CONCLUSION (25 sec)
"So to conclude — AI accelerates everything in development. But it doesn't make learning unnecessary. You still need to understand the code it writes, spot mistakes, and make architectural decisions. The developers who will succeed aren't the ones who ignore AI, or the ones who blindly trust it. They're the ones who use it intelligently. I believe that for us — students who are learning web dev right now — this is actually a huge advantage. We're starting our careers exactly when these tools are becoming mainstream.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90F"/>
        </a:solidFill>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6350">
            <a:solidFill>
              <a:srgbClr val="121C28"/>
            </a:solidFill>
            <a:prstDash val="solid"/>
          </a:ln>
        </p:spPr>
      </p:sp>
      <p:sp>
        <p:nvSpPr>
          <p:cNvPr id="3" name="Shape 1"/>
          <p:cNvSpPr/>
          <p:nvPr/>
        </p:nvSpPr>
        <p:spPr>
          <a:xfrm>
            <a:off x="0" y="594360"/>
            <a:ext cx="9144000" cy="0"/>
          </a:xfrm>
          <a:prstGeom prst="line">
            <a:avLst/>
          </a:prstGeom>
          <a:noFill/>
          <a:ln w="6350">
            <a:solidFill>
              <a:srgbClr val="121C28"/>
            </a:solidFill>
            <a:prstDash val="solid"/>
          </a:ln>
        </p:spPr>
      </p:sp>
      <p:sp>
        <p:nvSpPr>
          <p:cNvPr id="4" name="Shape 2"/>
          <p:cNvSpPr/>
          <p:nvPr/>
        </p:nvSpPr>
        <p:spPr>
          <a:xfrm>
            <a:off x="0" y="1188720"/>
            <a:ext cx="9144000" cy="0"/>
          </a:xfrm>
          <a:prstGeom prst="line">
            <a:avLst/>
          </a:prstGeom>
          <a:noFill/>
          <a:ln w="6350">
            <a:solidFill>
              <a:srgbClr val="121C28"/>
            </a:solidFill>
            <a:prstDash val="solid"/>
          </a:ln>
        </p:spPr>
      </p:sp>
      <p:sp>
        <p:nvSpPr>
          <p:cNvPr id="5" name="Shape 3"/>
          <p:cNvSpPr/>
          <p:nvPr/>
        </p:nvSpPr>
        <p:spPr>
          <a:xfrm>
            <a:off x="0" y="1783080"/>
            <a:ext cx="9144000" cy="0"/>
          </a:xfrm>
          <a:prstGeom prst="line">
            <a:avLst/>
          </a:prstGeom>
          <a:noFill/>
          <a:ln w="6350">
            <a:solidFill>
              <a:srgbClr val="121C28"/>
            </a:solidFill>
            <a:prstDash val="solid"/>
          </a:ln>
        </p:spPr>
      </p:sp>
      <p:sp>
        <p:nvSpPr>
          <p:cNvPr id="6" name="Shape 4"/>
          <p:cNvSpPr/>
          <p:nvPr/>
        </p:nvSpPr>
        <p:spPr>
          <a:xfrm>
            <a:off x="0" y="2377440"/>
            <a:ext cx="9144000" cy="0"/>
          </a:xfrm>
          <a:prstGeom prst="line">
            <a:avLst/>
          </a:prstGeom>
          <a:noFill/>
          <a:ln w="6350">
            <a:solidFill>
              <a:srgbClr val="121C28"/>
            </a:solidFill>
            <a:prstDash val="solid"/>
          </a:ln>
        </p:spPr>
      </p:sp>
      <p:sp>
        <p:nvSpPr>
          <p:cNvPr id="7" name="Shape 5"/>
          <p:cNvSpPr/>
          <p:nvPr/>
        </p:nvSpPr>
        <p:spPr>
          <a:xfrm>
            <a:off x="0" y="2971800"/>
            <a:ext cx="9144000" cy="0"/>
          </a:xfrm>
          <a:prstGeom prst="line">
            <a:avLst/>
          </a:prstGeom>
          <a:noFill/>
          <a:ln w="6350">
            <a:solidFill>
              <a:srgbClr val="121C28"/>
            </a:solidFill>
            <a:prstDash val="solid"/>
          </a:ln>
        </p:spPr>
      </p:sp>
      <p:sp>
        <p:nvSpPr>
          <p:cNvPr id="8" name="Shape 6"/>
          <p:cNvSpPr/>
          <p:nvPr/>
        </p:nvSpPr>
        <p:spPr>
          <a:xfrm>
            <a:off x="0" y="3566160"/>
            <a:ext cx="9144000" cy="0"/>
          </a:xfrm>
          <a:prstGeom prst="line">
            <a:avLst/>
          </a:prstGeom>
          <a:noFill/>
          <a:ln w="6350">
            <a:solidFill>
              <a:srgbClr val="121C28"/>
            </a:solidFill>
            <a:prstDash val="solid"/>
          </a:ln>
        </p:spPr>
      </p:sp>
      <p:sp>
        <p:nvSpPr>
          <p:cNvPr id="9" name="Shape 7"/>
          <p:cNvSpPr/>
          <p:nvPr/>
        </p:nvSpPr>
        <p:spPr>
          <a:xfrm>
            <a:off x="0" y="4160520"/>
            <a:ext cx="9144000" cy="0"/>
          </a:xfrm>
          <a:prstGeom prst="line">
            <a:avLst/>
          </a:prstGeom>
          <a:noFill/>
          <a:ln w="6350">
            <a:solidFill>
              <a:srgbClr val="121C28"/>
            </a:solidFill>
            <a:prstDash val="solid"/>
          </a:ln>
        </p:spPr>
      </p:sp>
      <p:sp>
        <p:nvSpPr>
          <p:cNvPr id="10" name="Shape 8"/>
          <p:cNvSpPr/>
          <p:nvPr/>
        </p:nvSpPr>
        <p:spPr>
          <a:xfrm>
            <a:off x="0" y="4754880"/>
            <a:ext cx="9144000" cy="0"/>
          </a:xfrm>
          <a:prstGeom prst="line">
            <a:avLst/>
          </a:prstGeom>
          <a:noFill/>
          <a:ln w="6350">
            <a:solidFill>
              <a:srgbClr val="121C28"/>
            </a:solidFill>
            <a:prstDash val="solid"/>
          </a:ln>
        </p:spPr>
      </p:sp>
      <p:sp>
        <p:nvSpPr>
          <p:cNvPr id="11" name="Shape 9"/>
          <p:cNvSpPr/>
          <p:nvPr/>
        </p:nvSpPr>
        <p:spPr>
          <a:xfrm>
            <a:off x="0" y="0"/>
            <a:ext cx="0" cy="5143500"/>
          </a:xfrm>
          <a:prstGeom prst="line">
            <a:avLst/>
          </a:prstGeom>
          <a:noFill/>
          <a:ln w="6350">
            <a:solidFill>
              <a:srgbClr val="121C28"/>
            </a:solidFill>
            <a:prstDash val="solid"/>
          </a:ln>
        </p:spPr>
      </p:sp>
      <p:sp>
        <p:nvSpPr>
          <p:cNvPr id="12" name="Shape 10"/>
          <p:cNvSpPr/>
          <p:nvPr/>
        </p:nvSpPr>
        <p:spPr>
          <a:xfrm>
            <a:off x="594360" y="0"/>
            <a:ext cx="0" cy="5143500"/>
          </a:xfrm>
          <a:prstGeom prst="line">
            <a:avLst/>
          </a:prstGeom>
          <a:noFill/>
          <a:ln w="6350">
            <a:solidFill>
              <a:srgbClr val="121C28"/>
            </a:solidFill>
            <a:prstDash val="solid"/>
          </a:ln>
        </p:spPr>
      </p:sp>
      <p:sp>
        <p:nvSpPr>
          <p:cNvPr id="13" name="Shape 11"/>
          <p:cNvSpPr/>
          <p:nvPr/>
        </p:nvSpPr>
        <p:spPr>
          <a:xfrm>
            <a:off x="1188720" y="0"/>
            <a:ext cx="0" cy="5143500"/>
          </a:xfrm>
          <a:prstGeom prst="line">
            <a:avLst/>
          </a:prstGeom>
          <a:noFill/>
          <a:ln w="6350">
            <a:solidFill>
              <a:srgbClr val="121C28"/>
            </a:solidFill>
            <a:prstDash val="solid"/>
          </a:ln>
        </p:spPr>
      </p:sp>
      <p:sp>
        <p:nvSpPr>
          <p:cNvPr id="14" name="Shape 12"/>
          <p:cNvSpPr/>
          <p:nvPr/>
        </p:nvSpPr>
        <p:spPr>
          <a:xfrm>
            <a:off x="1783080" y="0"/>
            <a:ext cx="0" cy="5143500"/>
          </a:xfrm>
          <a:prstGeom prst="line">
            <a:avLst/>
          </a:prstGeom>
          <a:noFill/>
          <a:ln w="6350">
            <a:solidFill>
              <a:srgbClr val="121C28"/>
            </a:solidFill>
            <a:prstDash val="solid"/>
          </a:ln>
        </p:spPr>
      </p:sp>
      <p:sp>
        <p:nvSpPr>
          <p:cNvPr id="15" name="Shape 13"/>
          <p:cNvSpPr/>
          <p:nvPr/>
        </p:nvSpPr>
        <p:spPr>
          <a:xfrm>
            <a:off x="2377440" y="0"/>
            <a:ext cx="0" cy="5143500"/>
          </a:xfrm>
          <a:prstGeom prst="line">
            <a:avLst/>
          </a:prstGeom>
          <a:noFill/>
          <a:ln w="6350">
            <a:solidFill>
              <a:srgbClr val="121C28"/>
            </a:solidFill>
            <a:prstDash val="solid"/>
          </a:ln>
        </p:spPr>
      </p:sp>
      <p:sp>
        <p:nvSpPr>
          <p:cNvPr id="16" name="Shape 14"/>
          <p:cNvSpPr/>
          <p:nvPr/>
        </p:nvSpPr>
        <p:spPr>
          <a:xfrm>
            <a:off x="2971800" y="0"/>
            <a:ext cx="0" cy="5143500"/>
          </a:xfrm>
          <a:prstGeom prst="line">
            <a:avLst/>
          </a:prstGeom>
          <a:noFill/>
          <a:ln w="6350">
            <a:solidFill>
              <a:srgbClr val="121C28"/>
            </a:solidFill>
            <a:prstDash val="solid"/>
          </a:ln>
        </p:spPr>
      </p:sp>
      <p:sp>
        <p:nvSpPr>
          <p:cNvPr id="17" name="Shape 15"/>
          <p:cNvSpPr/>
          <p:nvPr/>
        </p:nvSpPr>
        <p:spPr>
          <a:xfrm>
            <a:off x="3566160" y="0"/>
            <a:ext cx="0" cy="5143500"/>
          </a:xfrm>
          <a:prstGeom prst="line">
            <a:avLst/>
          </a:prstGeom>
          <a:noFill/>
          <a:ln w="6350">
            <a:solidFill>
              <a:srgbClr val="121C28"/>
            </a:solidFill>
            <a:prstDash val="solid"/>
          </a:ln>
        </p:spPr>
      </p:sp>
      <p:sp>
        <p:nvSpPr>
          <p:cNvPr id="18" name="Shape 16"/>
          <p:cNvSpPr/>
          <p:nvPr/>
        </p:nvSpPr>
        <p:spPr>
          <a:xfrm>
            <a:off x="4160520" y="0"/>
            <a:ext cx="0" cy="5143500"/>
          </a:xfrm>
          <a:prstGeom prst="line">
            <a:avLst/>
          </a:prstGeom>
          <a:noFill/>
          <a:ln w="6350">
            <a:solidFill>
              <a:srgbClr val="121C28"/>
            </a:solidFill>
            <a:prstDash val="solid"/>
          </a:ln>
        </p:spPr>
      </p:sp>
      <p:sp>
        <p:nvSpPr>
          <p:cNvPr id="19" name="Shape 17"/>
          <p:cNvSpPr/>
          <p:nvPr/>
        </p:nvSpPr>
        <p:spPr>
          <a:xfrm>
            <a:off x="4754880" y="0"/>
            <a:ext cx="0" cy="5143500"/>
          </a:xfrm>
          <a:prstGeom prst="line">
            <a:avLst/>
          </a:prstGeom>
          <a:noFill/>
          <a:ln w="6350">
            <a:solidFill>
              <a:srgbClr val="121C28"/>
            </a:solidFill>
            <a:prstDash val="solid"/>
          </a:ln>
        </p:spPr>
      </p:sp>
      <p:sp>
        <p:nvSpPr>
          <p:cNvPr id="20" name="Shape 18"/>
          <p:cNvSpPr/>
          <p:nvPr/>
        </p:nvSpPr>
        <p:spPr>
          <a:xfrm>
            <a:off x="5349240" y="0"/>
            <a:ext cx="0" cy="5143500"/>
          </a:xfrm>
          <a:prstGeom prst="line">
            <a:avLst/>
          </a:prstGeom>
          <a:noFill/>
          <a:ln w="6350">
            <a:solidFill>
              <a:srgbClr val="121C28"/>
            </a:solidFill>
            <a:prstDash val="solid"/>
          </a:ln>
        </p:spPr>
      </p:sp>
      <p:sp>
        <p:nvSpPr>
          <p:cNvPr id="21" name="Shape 19"/>
          <p:cNvSpPr/>
          <p:nvPr/>
        </p:nvSpPr>
        <p:spPr>
          <a:xfrm>
            <a:off x="5943600" y="0"/>
            <a:ext cx="0" cy="5143500"/>
          </a:xfrm>
          <a:prstGeom prst="line">
            <a:avLst/>
          </a:prstGeom>
          <a:noFill/>
          <a:ln w="6350">
            <a:solidFill>
              <a:srgbClr val="121C28"/>
            </a:solidFill>
            <a:prstDash val="solid"/>
          </a:ln>
        </p:spPr>
      </p:sp>
      <p:sp>
        <p:nvSpPr>
          <p:cNvPr id="22" name="Shape 20"/>
          <p:cNvSpPr/>
          <p:nvPr/>
        </p:nvSpPr>
        <p:spPr>
          <a:xfrm>
            <a:off x="6537960" y="0"/>
            <a:ext cx="0" cy="5143500"/>
          </a:xfrm>
          <a:prstGeom prst="line">
            <a:avLst/>
          </a:prstGeom>
          <a:noFill/>
          <a:ln w="6350">
            <a:solidFill>
              <a:srgbClr val="121C28"/>
            </a:solidFill>
            <a:prstDash val="solid"/>
          </a:ln>
        </p:spPr>
      </p:sp>
      <p:sp>
        <p:nvSpPr>
          <p:cNvPr id="23" name="Shape 21"/>
          <p:cNvSpPr/>
          <p:nvPr/>
        </p:nvSpPr>
        <p:spPr>
          <a:xfrm>
            <a:off x="7132320" y="0"/>
            <a:ext cx="0" cy="5143500"/>
          </a:xfrm>
          <a:prstGeom prst="line">
            <a:avLst/>
          </a:prstGeom>
          <a:noFill/>
          <a:ln w="6350">
            <a:solidFill>
              <a:srgbClr val="121C28"/>
            </a:solidFill>
            <a:prstDash val="solid"/>
          </a:ln>
        </p:spPr>
      </p:sp>
      <p:sp>
        <p:nvSpPr>
          <p:cNvPr id="24" name="Shape 22"/>
          <p:cNvSpPr/>
          <p:nvPr/>
        </p:nvSpPr>
        <p:spPr>
          <a:xfrm>
            <a:off x="7726680" y="0"/>
            <a:ext cx="0" cy="5143500"/>
          </a:xfrm>
          <a:prstGeom prst="line">
            <a:avLst/>
          </a:prstGeom>
          <a:noFill/>
          <a:ln w="6350">
            <a:solidFill>
              <a:srgbClr val="121C28"/>
            </a:solidFill>
            <a:prstDash val="solid"/>
          </a:ln>
        </p:spPr>
      </p:sp>
      <p:sp>
        <p:nvSpPr>
          <p:cNvPr id="25" name="Shape 23"/>
          <p:cNvSpPr/>
          <p:nvPr/>
        </p:nvSpPr>
        <p:spPr>
          <a:xfrm>
            <a:off x="8321040" y="0"/>
            <a:ext cx="0" cy="5143500"/>
          </a:xfrm>
          <a:prstGeom prst="line">
            <a:avLst/>
          </a:prstGeom>
          <a:noFill/>
          <a:ln w="6350">
            <a:solidFill>
              <a:srgbClr val="121C28"/>
            </a:solidFill>
            <a:prstDash val="solid"/>
          </a:ln>
        </p:spPr>
      </p:sp>
      <p:sp>
        <p:nvSpPr>
          <p:cNvPr id="26" name="Shape 24"/>
          <p:cNvSpPr/>
          <p:nvPr/>
        </p:nvSpPr>
        <p:spPr>
          <a:xfrm>
            <a:off x="8915400" y="0"/>
            <a:ext cx="0" cy="5143500"/>
          </a:xfrm>
          <a:prstGeom prst="line">
            <a:avLst/>
          </a:prstGeom>
          <a:noFill/>
          <a:ln w="6350">
            <a:solidFill>
              <a:srgbClr val="121C28"/>
            </a:solidFill>
            <a:prstDash val="solid"/>
          </a:ln>
        </p:spPr>
      </p:sp>
      <p:sp>
        <p:nvSpPr>
          <p:cNvPr id="27" name="Shape 25"/>
          <p:cNvSpPr/>
          <p:nvPr/>
        </p:nvSpPr>
        <p:spPr>
          <a:xfrm>
            <a:off x="0" y="0"/>
            <a:ext cx="5852160" cy="5143500"/>
          </a:xfrm>
          <a:prstGeom prst="rect">
            <a:avLst/>
          </a:prstGeom>
          <a:solidFill>
            <a:srgbClr val="0D1117"/>
          </a:solidFill>
          <a:ln w="12700">
            <a:solidFill>
              <a:srgbClr val="1E2D3D"/>
            </a:solidFill>
            <a:prstDash val="solid"/>
          </a:ln>
        </p:spPr>
      </p:sp>
      <p:sp>
        <p:nvSpPr>
          <p:cNvPr id="28" name="Shape 26"/>
          <p:cNvSpPr/>
          <p:nvPr/>
        </p:nvSpPr>
        <p:spPr>
          <a:xfrm>
            <a:off x="0" y="0"/>
            <a:ext cx="5852160" cy="54864"/>
          </a:xfrm>
          <a:prstGeom prst="rect">
            <a:avLst/>
          </a:prstGeom>
          <a:solidFill>
            <a:srgbClr val="00FF88"/>
          </a:solidFill>
          <a:ln w="12700">
            <a:solidFill>
              <a:srgbClr val="00FF88"/>
            </a:solidFill>
            <a:prstDash val="solid"/>
          </a:ln>
        </p:spPr>
      </p:sp>
      <p:sp>
        <p:nvSpPr>
          <p:cNvPr id="29" name="Shape 27"/>
          <p:cNvSpPr/>
          <p:nvPr/>
        </p:nvSpPr>
        <p:spPr>
          <a:xfrm>
            <a:off x="411480" y="384048"/>
            <a:ext cx="3383280" cy="237744"/>
          </a:xfrm>
          <a:prstGeom prst="rect">
            <a:avLst/>
          </a:prstGeom>
          <a:solidFill>
            <a:srgbClr val="07090F"/>
          </a:solidFill>
          <a:ln w="12700">
            <a:solidFill>
              <a:srgbClr val="00FF88"/>
            </a:solidFill>
            <a:prstDash val="solid"/>
          </a:ln>
        </p:spPr>
      </p:sp>
      <p:sp>
        <p:nvSpPr>
          <p:cNvPr id="30" name="Text 28"/>
          <p:cNvSpPr/>
          <p:nvPr/>
        </p:nvSpPr>
        <p:spPr>
          <a:xfrm>
            <a:off x="411480" y="384048"/>
            <a:ext cx="3383280" cy="237744"/>
          </a:xfrm>
          <a:prstGeom prst="rect">
            <a:avLst/>
          </a:prstGeom>
          <a:noFill/>
          <a:ln/>
        </p:spPr>
        <p:txBody>
          <a:bodyPr wrap="square" lIns="0" tIns="0" rIns="0" bIns="0" rtlCol="0" anchor="ctr"/>
          <a:lstStyle/>
          <a:p>
            <a:pPr algn="ctr" indent="0" marL="0">
              <a:buNone/>
            </a:pPr>
            <a:r>
              <a:rPr lang="en-US" sz="800" b="1" spc="200" kern="0" dirty="0">
                <a:solidFill>
                  <a:srgbClr val="00FF88"/>
                </a:solidFill>
                <a:latin typeface="Courier New" pitchFamily="34" charset="0"/>
                <a:ea typeface="Courier New" pitchFamily="34" charset="-122"/>
                <a:cs typeface="Courier New" pitchFamily="34" charset="-120"/>
              </a:rPr>
              <a:t>C41  ·  UNIT 2  ·  SPEAKING TEST</a:t>
            </a:r>
            <a:endParaRPr lang="en-US" sz="800" dirty="0"/>
          </a:p>
        </p:txBody>
      </p:sp>
      <p:sp>
        <p:nvSpPr>
          <p:cNvPr id="31" name="Text 29"/>
          <p:cNvSpPr/>
          <p:nvPr/>
        </p:nvSpPr>
        <p:spPr>
          <a:xfrm>
            <a:off x="411480" y="822960"/>
            <a:ext cx="5303520" cy="77724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AI in Web &amp;</a:t>
            </a:r>
            <a:endParaRPr lang="en-US" sz="4800" dirty="0"/>
          </a:p>
        </p:txBody>
      </p:sp>
      <p:sp>
        <p:nvSpPr>
          <p:cNvPr id="32" name="Text 30"/>
          <p:cNvSpPr/>
          <p:nvPr/>
        </p:nvSpPr>
        <p:spPr>
          <a:xfrm>
            <a:off x="411480" y="1554480"/>
            <a:ext cx="5303520" cy="777240"/>
          </a:xfrm>
          <a:prstGeom prst="rect">
            <a:avLst/>
          </a:prstGeom>
          <a:noFill/>
          <a:ln/>
        </p:spPr>
        <p:txBody>
          <a:bodyPr wrap="square" lIns="0" tIns="0" rIns="0" bIns="0" rtlCol="0" anchor="ctr"/>
          <a:lstStyle/>
          <a:p>
            <a:pPr indent="0" marL="0">
              <a:buNone/>
            </a:pPr>
            <a:r>
              <a:rPr lang="en-US" sz="4800" b="1" dirty="0">
                <a:solidFill>
                  <a:srgbClr val="00FF88"/>
                </a:solidFill>
                <a:latin typeface="Calibri" pitchFamily="34" charset="0"/>
                <a:ea typeface="Calibri" pitchFamily="34" charset="-122"/>
                <a:cs typeface="Calibri" pitchFamily="34" charset="-120"/>
              </a:rPr>
              <a:t>App Development</a:t>
            </a:r>
            <a:endParaRPr lang="en-US" sz="4800" dirty="0"/>
          </a:p>
        </p:txBody>
      </p:sp>
      <p:sp>
        <p:nvSpPr>
          <p:cNvPr id="33" name="Shape 31"/>
          <p:cNvSpPr/>
          <p:nvPr/>
        </p:nvSpPr>
        <p:spPr>
          <a:xfrm>
            <a:off x="411480" y="2487168"/>
            <a:ext cx="3657600" cy="0"/>
          </a:xfrm>
          <a:prstGeom prst="line">
            <a:avLst/>
          </a:prstGeom>
          <a:noFill/>
          <a:ln w="12700">
            <a:solidFill>
              <a:srgbClr val="1E2D3D"/>
            </a:solidFill>
            <a:prstDash val="solid"/>
          </a:ln>
        </p:spPr>
      </p:sp>
      <p:sp>
        <p:nvSpPr>
          <p:cNvPr id="34" name="Text 32"/>
          <p:cNvSpPr/>
          <p:nvPr/>
        </p:nvSpPr>
        <p:spPr>
          <a:xfrm>
            <a:off x="411480" y="2633472"/>
            <a:ext cx="5212080" cy="731520"/>
          </a:xfrm>
          <a:prstGeom prst="rect">
            <a:avLst/>
          </a:prstGeom>
          <a:noFill/>
          <a:ln/>
        </p:spPr>
        <p:txBody>
          <a:bodyPr wrap="square" lIns="0" tIns="0" rIns="0" bIns="0" rtlCol="0" anchor="ctr"/>
          <a:lstStyle/>
          <a:p>
            <a:pPr indent="0" marL="0">
              <a:lnSpc>
                <a:spcPct val="150000"/>
              </a:lnSpc>
              <a:buNone/>
            </a:pPr>
            <a:r>
              <a:rPr lang="en-US" sz="1400" dirty="0">
                <a:solidFill>
                  <a:srgbClr val="506070"/>
                </a:solidFill>
                <a:latin typeface="Calibri" pitchFamily="34" charset="0"/>
                <a:ea typeface="Calibri" pitchFamily="34" charset="-122"/>
                <a:cs typeface="Calibri" pitchFamily="34" charset="-120"/>
              </a:rPr>
              <a:t>How artificial intelligence is transforming</a:t>
            </a:r>
            <a:endParaRPr lang="en-US" sz="1400" dirty="0"/>
          </a:p>
          <a:p>
            <a:pPr indent="0" marL="0">
              <a:lnSpc>
                <a:spcPct val="150000"/>
              </a:lnSpc>
              <a:buNone/>
            </a:pPr>
            <a:r>
              <a:rPr lang="en-US" sz="1400" dirty="0">
                <a:solidFill>
                  <a:srgbClr val="506070"/>
                </a:solidFill>
                <a:latin typeface="Calibri" pitchFamily="34" charset="0"/>
                <a:ea typeface="Calibri" pitchFamily="34" charset="-122"/>
                <a:cs typeface="Calibri" pitchFamily="34" charset="-120"/>
              </a:rPr>
              <a:t>the way developers build for the web.</a:t>
            </a:r>
            <a:endParaRPr lang="en-US" sz="1400" dirty="0"/>
          </a:p>
        </p:txBody>
      </p:sp>
      <p:sp>
        <p:nvSpPr>
          <p:cNvPr id="35" name="Text 33"/>
          <p:cNvSpPr/>
          <p:nvPr/>
        </p:nvSpPr>
        <p:spPr>
          <a:xfrm>
            <a:off x="411480" y="3566160"/>
            <a:ext cx="5212080" cy="320040"/>
          </a:xfrm>
          <a:prstGeom prst="rect">
            <a:avLst/>
          </a:prstGeom>
          <a:noFill/>
          <a:ln/>
        </p:spPr>
        <p:txBody>
          <a:bodyPr wrap="square" lIns="0" tIns="0" rIns="0" bIns="0" rtlCol="0" anchor="ctr"/>
          <a:lstStyle/>
          <a:p>
            <a:pPr indent="0" marL="0">
              <a:buNone/>
            </a:pPr>
            <a:r>
              <a:rPr lang="en-US" sz="1200" i="1" dirty="0">
                <a:solidFill>
                  <a:srgbClr val="506070"/>
                </a:solidFill>
                <a:latin typeface="Calibri" pitchFamily="34" charset="0"/>
                <a:ea typeface="Calibri" pitchFamily="34" charset="-122"/>
                <a:cs typeface="Calibri" pitchFamily="34" charset="-120"/>
              </a:rPr>
              <a:t>Francesco Ruggeri  ·  Steve Jobs Academy</a:t>
            </a:r>
            <a:endParaRPr lang="en-US" sz="1200" dirty="0"/>
          </a:p>
        </p:txBody>
      </p:sp>
      <p:sp>
        <p:nvSpPr>
          <p:cNvPr id="36" name="Shape 34"/>
          <p:cNvSpPr/>
          <p:nvPr/>
        </p:nvSpPr>
        <p:spPr>
          <a:xfrm>
            <a:off x="0" y="4800600"/>
            <a:ext cx="5852160" cy="342900"/>
          </a:xfrm>
          <a:prstGeom prst="rect">
            <a:avLst/>
          </a:prstGeom>
          <a:solidFill>
            <a:srgbClr val="111820"/>
          </a:solidFill>
          <a:ln w="12700">
            <a:solidFill>
              <a:srgbClr val="1E2D3D"/>
            </a:solidFill>
            <a:prstDash val="solid"/>
          </a:ln>
        </p:spPr>
      </p:sp>
      <p:sp>
        <p:nvSpPr>
          <p:cNvPr id="37" name="Text 35"/>
          <p:cNvSpPr/>
          <p:nvPr/>
        </p:nvSpPr>
        <p:spPr>
          <a:xfrm>
            <a:off x="411480" y="4800600"/>
            <a:ext cx="5212080" cy="342900"/>
          </a:xfrm>
          <a:prstGeom prst="rect">
            <a:avLst/>
          </a:prstGeom>
          <a:noFill/>
          <a:ln/>
        </p:spPr>
        <p:txBody>
          <a:bodyPr wrap="square" lIns="0" tIns="0" rIns="0" bIns="0" rtlCol="0" anchor="ctr"/>
          <a:lstStyle/>
          <a:p>
            <a:pPr indent="0" marL="0">
              <a:buNone/>
            </a:pPr>
            <a:r>
              <a:rPr lang="en-US" sz="900" spc="300" kern="0" dirty="0">
                <a:solidFill>
                  <a:srgbClr val="506070"/>
                </a:solidFill>
                <a:latin typeface="Courier New" pitchFamily="34" charset="0"/>
                <a:ea typeface="Courier New" pitchFamily="34" charset="-122"/>
                <a:cs typeface="Courier New" pitchFamily="34" charset="-120"/>
              </a:rPr>
              <a:t>2026</a:t>
            </a:r>
            <a:endParaRPr lang="en-US" sz="900" dirty="0"/>
          </a:p>
        </p:txBody>
      </p:sp>
      <p:sp>
        <p:nvSpPr>
          <p:cNvPr id="38" name="Shape 36"/>
          <p:cNvSpPr/>
          <p:nvPr/>
        </p:nvSpPr>
        <p:spPr>
          <a:xfrm>
            <a:off x="6126480" y="640080"/>
            <a:ext cx="2834640" cy="1920240"/>
          </a:xfrm>
          <a:prstGeom prst="rect">
            <a:avLst/>
          </a:prstGeom>
          <a:solidFill>
            <a:srgbClr val="111820"/>
          </a:solidFill>
          <a:ln w="12700">
            <a:solidFill>
              <a:srgbClr val="1E2D3D"/>
            </a:solidFill>
            <a:prstDash val="solid"/>
          </a:ln>
          <a:effectLst>
            <a:outerShdw sx="100000" sy="100000" kx="0" ky="0" algn="bl" rotWithShape="0" blurRad="152400" dist="50800" dir="8100000">
              <a:srgbClr val="000000">
                <a:alpha val="35000"/>
              </a:srgbClr>
            </a:outerShdw>
          </a:effectLst>
        </p:spPr>
      </p:sp>
      <p:sp>
        <p:nvSpPr>
          <p:cNvPr id="39" name="Shape 37"/>
          <p:cNvSpPr/>
          <p:nvPr/>
        </p:nvSpPr>
        <p:spPr>
          <a:xfrm>
            <a:off x="6126480" y="640080"/>
            <a:ext cx="2834640" cy="292608"/>
          </a:xfrm>
          <a:prstGeom prst="rect">
            <a:avLst/>
          </a:prstGeom>
          <a:solidFill>
            <a:srgbClr val="0A1520"/>
          </a:solidFill>
          <a:ln w="12700">
            <a:solidFill>
              <a:srgbClr val="1E2D3D"/>
            </a:solidFill>
            <a:prstDash val="solid"/>
          </a:ln>
        </p:spPr>
      </p:sp>
      <p:sp>
        <p:nvSpPr>
          <p:cNvPr id="40" name="Shape 38"/>
          <p:cNvSpPr/>
          <p:nvPr/>
        </p:nvSpPr>
        <p:spPr>
          <a:xfrm>
            <a:off x="6245352" y="749808"/>
            <a:ext cx="82296" cy="82296"/>
          </a:xfrm>
          <a:prstGeom prst="ellipse">
            <a:avLst/>
          </a:prstGeom>
          <a:solidFill>
            <a:srgbClr val="FF5F57"/>
          </a:solidFill>
          <a:ln w="12700">
            <a:solidFill>
              <a:srgbClr val="FF5F57"/>
            </a:solidFill>
            <a:prstDash val="solid"/>
          </a:ln>
        </p:spPr>
      </p:sp>
      <p:sp>
        <p:nvSpPr>
          <p:cNvPr id="41" name="Shape 39"/>
          <p:cNvSpPr/>
          <p:nvPr/>
        </p:nvSpPr>
        <p:spPr>
          <a:xfrm>
            <a:off x="6419088" y="749808"/>
            <a:ext cx="82296" cy="82296"/>
          </a:xfrm>
          <a:prstGeom prst="ellipse">
            <a:avLst/>
          </a:prstGeom>
          <a:solidFill>
            <a:srgbClr val="FFBD2E"/>
          </a:solidFill>
          <a:ln w="12700">
            <a:solidFill>
              <a:srgbClr val="FFBD2E"/>
            </a:solidFill>
            <a:prstDash val="solid"/>
          </a:ln>
        </p:spPr>
      </p:sp>
      <p:sp>
        <p:nvSpPr>
          <p:cNvPr id="42" name="Shape 40"/>
          <p:cNvSpPr/>
          <p:nvPr/>
        </p:nvSpPr>
        <p:spPr>
          <a:xfrm>
            <a:off x="6592824" y="749808"/>
            <a:ext cx="82296" cy="82296"/>
          </a:xfrm>
          <a:prstGeom prst="ellipse">
            <a:avLst/>
          </a:prstGeom>
          <a:solidFill>
            <a:srgbClr val="28CA41"/>
          </a:solidFill>
          <a:ln w="12700">
            <a:solidFill>
              <a:srgbClr val="28CA41"/>
            </a:solidFill>
            <a:prstDash val="solid"/>
          </a:ln>
        </p:spPr>
      </p:sp>
      <p:sp>
        <p:nvSpPr>
          <p:cNvPr id="43" name="Text 41"/>
          <p:cNvSpPr/>
          <p:nvPr/>
        </p:nvSpPr>
        <p:spPr>
          <a:xfrm>
            <a:off x="6583680" y="658368"/>
            <a:ext cx="2194560" cy="274320"/>
          </a:xfrm>
          <a:prstGeom prst="rect">
            <a:avLst/>
          </a:prstGeom>
          <a:noFill/>
          <a:ln/>
        </p:spPr>
        <p:txBody>
          <a:bodyPr wrap="square" lIns="0" tIns="0" rIns="0" bIns="0" rtlCol="0" anchor="ctr"/>
          <a:lstStyle/>
          <a:p>
            <a:pPr indent="0" marL="0">
              <a:buNone/>
            </a:pPr>
            <a:r>
              <a:rPr lang="en-US" sz="800" dirty="0">
                <a:solidFill>
                  <a:srgbClr val="506070"/>
                </a:solidFill>
                <a:latin typeface="Courier New" pitchFamily="34" charset="0"/>
                <a:ea typeface="Courier New" pitchFamily="34" charset="-122"/>
                <a:cs typeface="Courier New" pitchFamily="34" charset="-120"/>
              </a:rPr>
              <a:t>ai_dev.py</a:t>
            </a:r>
            <a:endParaRPr lang="en-US" sz="800" dirty="0"/>
          </a:p>
        </p:txBody>
      </p:sp>
      <p:sp>
        <p:nvSpPr>
          <p:cNvPr id="44" name="Text 42"/>
          <p:cNvSpPr/>
          <p:nvPr/>
        </p:nvSpPr>
        <p:spPr>
          <a:xfrm>
            <a:off x="6217920" y="1005840"/>
            <a:ext cx="2651760" cy="1371600"/>
          </a:xfrm>
          <a:prstGeom prst="rect">
            <a:avLst/>
          </a:prstGeom>
          <a:noFill/>
          <a:ln/>
        </p:spPr>
        <p:txBody>
          <a:bodyPr wrap="square" lIns="0" tIns="0" rIns="0" bIns="0" rtlCol="0" anchor="ctr"/>
          <a:lstStyle/>
          <a:p>
            <a:pPr indent="0" marL="0">
              <a:lnSpc>
                <a:spcPct val="150000"/>
              </a:lnSpc>
              <a:buNone/>
            </a:pPr>
            <a:r>
              <a:rPr lang="en-US" sz="1200" dirty="0">
                <a:solidFill>
                  <a:srgbClr val="FF6B35"/>
                </a:solidFill>
                <a:latin typeface="Courier New" pitchFamily="34" charset="0"/>
                <a:ea typeface="Courier New" pitchFamily="34" charset="-122"/>
                <a:cs typeface="Courier New" pitchFamily="34" charset="-120"/>
              </a:rPr>
              <a:t>import </a:t>
            </a:r>
            <a:pPr indent="0" marL="0">
              <a:lnSpc>
                <a:spcPct val="150000"/>
              </a:lnSpc>
              <a:buNone/>
            </a:pPr>
            <a:r>
              <a:rPr lang="en-US" sz="1200" dirty="0">
                <a:solidFill>
                  <a:srgbClr val="FFFFFF"/>
                </a:solidFill>
                <a:latin typeface="Courier New" pitchFamily="34" charset="0"/>
                <a:ea typeface="Courier New" pitchFamily="34" charset="-122"/>
                <a:cs typeface="Courier New" pitchFamily="34" charset="-120"/>
              </a:rPr>
              <a:t>ai_tools
</a:t>
            </a:r>
            <a:pPr indent="0" marL="0">
              <a:lnSpc>
                <a:spcPct val="150000"/>
              </a:lnSpc>
              <a:buNone/>
            </a:pPr>
            <a:endParaRPr lang="en-US" sz="1200" dirty="0"/>
          </a:p>
          <a:p>
            <a:pPr indent="0" marL="0">
              <a:lnSpc>
                <a:spcPct val="150000"/>
              </a:lnSpc>
              <a:buNone/>
            </a:pPr>
            <a:r>
              <a:rPr lang="en-US" sz="1200" dirty="0">
                <a:solidFill>
                  <a:srgbClr val="00D4FF"/>
                </a:solidFill>
                <a:latin typeface="Courier New" pitchFamily="34" charset="0"/>
                <a:ea typeface="Courier New" pitchFamily="34" charset="-122"/>
                <a:cs typeface="Courier New" pitchFamily="34" charset="-120"/>
              </a:rPr>
              <a:t>def </a:t>
            </a:r>
            <a:endParaRPr lang="en-US" sz="1200" dirty="0"/>
          </a:p>
          <a:p>
            <a:pPr indent="0" marL="0">
              <a:lnSpc>
                <a:spcPct val="150000"/>
              </a:lnSpc>
              <a:buNone/>
            </a:pPr>
            <a:r>
              <a:rPr lang="en-US" sz="1200" dirty="0">
                <a:solidFill>
                  <a:srgbClr val="00FF88"/>
                </a:solidFill>
                <a:latin typeface="Courier New" pitchFamily="34" charset="0"/>
                <a:ea typeface="Courier New" pitchFamily="34" charset="-122"/>
                <a:cs typeface="Courier New" pitchFamily="34" charset="-120"/>
              </a:rPr>
              <a:t>build_app</a:t>
            </a:r>
            <a:pPr indent="0" marL="0">
              <a:lnSpc>
                <a:spcPct val="150000"/>
              </a:lnSpc>
              <a:buNone/>
            </a:pPr>
            <a:r>
              <a:rPr lang="en-US" sz="1200" dirty="0">
                <a:solidFill>
                  <a:srgbClr val="FFFFFF"/>
                </a:solidFill>
                <a:latin typeface="Courier New" pitchFamily="34" charset="0"/>
                <a:ea typeface="Courier New" pitchFamily="34" charset="-122"/>
                <a:cs typeface="Courier New" pitchFamily="34" charset="-120"/>
              </a:rPr>
              <a:t>():
</a:t>
            </a:r>
            <a:pPr indent="0" marL="0">
              <a:lnSpc>
                <a:spcPct val="150000"/>
              </a:lnSpc>
              <a:buNone/>
            </a:pPr>
            <a:r>
              <a:rPr lang="en-US" sz="1200" dirty="0">
                <a:solidFill>
                  <a:srgbClr val="FFFFFF"/>
                </a:solidFill>
                <a:latin typeface="Courier New" pitchFamily="34" charset="0"/>
                <a:ea typeface="Courier New" pitchFamily="34" charset="-122"/>
                <a:cs typeface="Courier New" pitchFamily="34" charset="-120"/>
              </a:rPr>
              <a:t>  ai</a:t>
            </a:r>
            <a:pPr indent="0" marL="0">
              <a:lnSpc>
                <a:spcPct val="150000"/>
              </a:lnSpc>
              <a:buNone/>
            </a:pPr>
            <a:r>
              <a:rPr lang="en-US" sz="1200" dirty="0">
                <a:solidFill>
                  <a:srgbClr val="506070"/>
                </a:solidFill>
                <a:latin typeface="Courier New" pitchFamily="34" charset="0"/>
                <a:ea typeface="Courier New" pitchFamily="34" charset="-122"/>
                <a:cs typeface="Courier New" pitchFamily="34" charset="-120"/>
              </a:rPr>
              <a:t>.</a:t>
            </a:r>
            <a:pPr indent="0" marL="0">
              <a:lnSpc>
                <a:spcPct val="150000"/>
              </a:lnSpc>
              <a:buNone/>
            </a:pPr>
            <a:r>
              <a:rPr lang="en-US" sz="1200" dirty="0">
                <a:solidFill>
                  <a:srgbClr val="00D4FF"/>
                </a:solidFill>
                <a:latin typeface="Courier New" pitchFamily="34" charset="0"/>
                <a:ea typeface="Courier New" pitchFamily="34" charset="-122"/>
                <a:cs typeface="Courier New" pitchFamily="34" charset="-120"/>
              </a:rPr>
              <a:t>generate</a:t>
            </a:r>
            <a:pPr indent="0" marL="0">
              <a:lnSpc>
                <a:spcPct val="150000"/>
              </a:lnSpc>
              <a:buNone/>
            </a:pPr>
            <a:r>
              <a:rPr lang="en-US" sz="1200" dirty="0">
                <a:solidFill>
                  <a:srgbClr val="506070"/>
                </a:solidFill>
                <a:latin typeface="Courier New" pitchFamily="34" charset="0"/>
                <a:ea typeface="Courier New" pitchFamily="34" charset="-122"/>
                <a:cs typeface="Courier New" pitchFamily="34" charset="-120"/>
              </a:rPr>
              <a:t>(prompt)
</a:t>
            </a:r>
            <a:pPr indent="0" marL="0">
              <a:lnSpc>
                <a:spcPct val="150000"/>
              </a:lnSpc>
              <a:buNone/>
            </a:pPr>
            <a:r>
              <a:rPr lang="en-US" sz="1200" dirty="0">
                <a:solidFill>
                  <a:srgbClr val="506070"/>
                </a:solidFill>
                <a:latin typeface="Courier New" pitchFamily="34" charset="0"/>
                <a:ea typeface="Courier New" pitchFamily="34" charset="-122"/>
                <a:cs typeface="Courier New" pitchFamily="34" charset="-120"/>
              </a:rPr>
              <a:t>  </a:t>
            </a:r>
            <a:pPr indent="0" marL="0">
              <a:lnSpc>
                <a:spcPct val="150000"/>
              </a:lnSpc>
              <a:buNone/>
            </a:pPr>
            <a:r>
              <a:rPr lang="en-US" sz="1200" dirty="0">
                <a:solidFill>
                  <a:srgbClr val="FF6B35"/>
                </a:solidFill>
                <a:latin typeface="Courier New" pitchFamily="34" charset="0"/>
                <a:ea typeface="Courier New" pitchFamily="34" charset="-122"/>
                <a:cs typeface="Courier New" pitchFamily="34" charset="-120"/>
              </a:rPr>
              <a:t>return </a:t>
            </a:r>
            <a:pPr indent="0" marL="0">
              <a:lnSpc>
                <a:spcPct val="150000"/>
              </a:lnSpc>
              <a:buNone/>
            </a:pPr>
            <a:r>
              <a:rPr lang="en-US" sz="1200" dirty="0">
                <a:solidFill>
                  <a:srgbClr val="00FF88"/>
                </a:solidFill>
                <a:latin typeface="Courier New" pitchFamily="34" charset="0"/>
                <a:ea typeface="Courier New" pitchFamily="34" charset="-122"/>
                <a:cs typeface="Courier New" pitchFamily="34" charset="-120"/>
              </a:rPr>
              <a:t>"done ✓"</a:t>
            </a:r>
            <a:endParaRPr lang="en-US" sz="1200" dirty="0"/>
          </a:p>
        </p:txBody>
      </p:sp>
      <p:sp>
        <p:nvSpPr>
          <p:cNvPr id="45" name="Shape 43"/>
          <p:cNvSpPr/>
          <p:nvPr/>
        </p:nvSpPr>
        <p:spPr>
          <a:xfrm>
            <a:off x="6492240" y="2834640"/>
            <a:ext cx="2286000" cy="2286000"/>
          </a:xfrm>
          <a:prstGeom prst="ellipse">
            <a:avLst/>
          </a:prstGeom>
          <a:solidFill>
            <a:srgbClr val="0A1E14"/>
          </a:solidFill>
          <a:ln w="19050">
            <a:solidFill>
              <a:srgbClr val="00FF88"/>
            </a:solidFill>
            <a:prstDash val="solid"/>
          </a:ln>
        </p:spPr>
      </p:sp>
      <p:sp>
        <p:nvSpPr>
          <p:cNvPr id="46" name="Text 44"/>
          <p:cNvSpPr/>
          <p:nvPr/>
        </p:nvSpPr>
        <p:spPr>
          <a:xfrm>
            <a:off x="6492240" y="3017520"/>
            <a:ext cx="2286000" cy="1005840"/>
          </a:xfrm>
          <a:prstGeom prst="rect">
            <a:avLst/>
          </a:prstGeom>
          <a:noFill/>
          <a:ln/>
        </p:spPr>
        <p:txBody>
          <a:bodyPr wrap="square" lIns="0" tIns="0" rIns="0" bIns="0" rtlCol="0" anchor="ctr"/>
          <a:lstStyle/>
          <a:p>
            <a:pPr algn="ctr" indent="0" marL="0">
              <a:buNone/>
            </a:pPr>
            <a:r>
              <a:rPr lang="en-US" sz="4400" dirty="0">
                <a:solidFill>
                  <a:srgbClr val="000000"/>
                </a:solidFill>
              </a:rPr>
              <a:t>🤖</a:t>
            </a:r>
            <a:endParaRPr lang="en-US" sz="4400" dirty="0"/>
          </a:p>
        </p:txBody>
      </p:sp>
      <p:sp>
        <p:nvSpPr>
          <p:cNvPr id="47" name="Text 45"/>
          <p:cNvSpPr/>
          <p:nvPr/>
        </p:nvSpPr>
        <p:spPr>
          <a:xfrm>
            <a:off x="6492240" y="4023360"/>
            <a:ext cx="2286000" cy="411480"/>
          </a:xfrm>
          <a:prstGeom prst="rect">
            <a:avLst/>
          </a:prstGeom>
          <a:noFill/>
          <a:ln/>
        </p:spPr>
        <p:txBody>
          <a:bodyPr wrap="square" lIns="0" tIns="0" rIns="0" bIns="0" rtlCol="0" anchor="ctr"/>
          <a:lstStyle/>
          <a:p>
            <a:pPr algn="ctr" indent="0" marL="0">
              <a:buNone/>
            </a:pPr>
            <a:r>
              <a:rPr lang="en-US" sz="1300" b="1" dirty="0">
                <a:solidFill>
                  <a:srgbClr val="00FF88"/>
                </a:solidFill>
                <a:latin typeface="Calibri" pitchFamily="34" charset="0"/>
                <a:ea typeface="Calibri" pitchFamily="34" charset="-122"/>
                <a:cs typeface="Calibri" pitchFamily="34" charset="-120"/>
              </a:rPr>
              <a:t>AI × DEV</a:t>
            </a:r>
            <a:endParaRPr lang="en-US" sz="1300" dirty="0"/>
          </a:p>
        </p:txBody>
      </p:sp>
      <p:sp>
        <p:nvSpPr>
          <p:cNvPr id="48" name="Shape 46"/>
          <p:cNvSpPr/>
          <p:nvPr/>
        </p:nvSpPr>
        <p:spPr>
          <a:xfrm>
            <a:off x="8778240" y="137160"/>
            <a:ext cx="146304" cy="146304"/>
          </a:xfrm>
          <a:prstGeom prst="ellipse">
            <a:avLst/>
          </a:prstGeom>
          <a:solidFill>
            <a:srgbClr val="00FF88"/>
          </a:solidFill>
          <a:ln w="12700">
            <a:solidFill>
              <a:srgbClr val="00FF88"/>
            </a:solidFill>
            <a:prstDash val="solid"/>
          </a:ln>
        </p:spPr>
      </p:sp>
      <p:sp>
        <p:nvSpPr>
          <p:cNvPr id="49" name="Shape 47"/>
          <p:cNvSpPr/>
          <p:nvPr/>
        </p:nvSpPr>
        <p:spPr>
          <a:xfrm>
            <a:off x="8778240" y="4956048"/>
            <a:ext cx="146304" cy="146304"/>
          </a:xfrm>
          <a:prstGeom prst="ellipse">
            <a:avLst/>
          </a:prstGeom>
          <a:solidFill>
            <a:srgbClr val="00FF88"/>
          </a:solidFill>
          <a:ln w="12700">
            <a:solidFill>
              <a:srgbClr val="00FF88"/>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90F"/>
        </a:solidFill>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6350">
            <a:solidFill>
              <a:srgbClr val="121C28"/>
            </a:solidFill>
            <a:prstDash val="solid"/>
          </a:ln>
        </p:spPr>
      </p:sp>
      <p:sp>
        <p:nvSpPr>
          <p:cNvPr id="3" name="Shape 1"/>
          <p:cNvSpPr/>
          <p:nvPr/>
        </p:nvSpPr>
        <p:spPr>
          <a:xfrm>
            <a:off x="0" y="594360"/>
            <a:ext cx="9144000" cy="0"/>
          </a:xfrm>
          <a:prstGeom prst="line">
            <a:avLst/>
          </a:prstGeom>
          <a:noFill/>
          <a:ln w="6350">
            <a:solidFill>
              <a:srgbClr val="121C28"/>
            </a:solidFill>
            <a:prstDash val="solid"/>
          </a:ln>
        </p:spPr>
      </p:sp>
      <p:sp>
        <p:nvSpPr>
          <p:cNvPr id="4" name="Shape 2"/>
          <p:cNvSpPr/>
          <p:nvPr/>
        </p:nvSpPr>
        <p:spPr>
          <a:xfrm>
            <a:off x="0" y="1188720"/>
            <a:ext cx="9144000" cy="0"/>
          </a:xfrm>
          <a:prstGeom prst="line">
            <a:avLst/>
          </a:prstGeom>
          <a:noFill/>
          <a:ln w="6350">
            <a:solidFill>
              <a:srgbClr val="121C28"/>
            </a:solidFill>
            <a:prstDash val="solid"/>
          </a:ln>
        </p:spPr>
      </p:sp>
      <p:sp>
        <p:nvSpPr>
          <p:cNvPr id="5" name="Shape 3"/>
          <p:cNvSpPr/>
          <p:nvPr/>
        </p:nvSpPr>
        <p:spPr>
          <a:xfrm>
            <a:off x="0" y="1783080"/>
            <a:ext cx="9144000" cy="0"/>
          </a:xfrm>
          <a:prstGeom prst="line">
            <a:avLst/>
          </a:prstGeom>
          <a:noFill/>
          <a:ln w="6350">
            <a:solidFill>
              <a:srgbClr val="121C28"/>
            </a:solidFill>
            <a:prstDash val="solid"/>
          </a:ln>
        </p:spPr>
      </p:sp>
      <p:sp>
        <p:nvSpPr>
          <p:cNvPr id="6" name="Shape 4"/>
          <p:cNvSpPr/>
          <p:nvPr/>
        </p:nvSpPr>
        <p:spPr>
          <a:xfrm>
            <a:off x="0" y="2377440"/>
            <a:ext cx="9144000" cy="0"/>
          </a:xfrm>
          <a:prstGeom prst="line">
            <a:avLst/>
          </a:prstGeom>
          <a:noFill/>
          <a:ln w="6350">
            <a:solidFill>
              <a:srgbClr val="121C28"/>
            </a:solidFill>
            <a:prstDash val="solid"/>
          </a:ln>
        </p:spPr>
      </p:sp>
      <p:sp>
        <p:nvSpPr>
          <p:cNvPr id="7" name="Shape 5"/>
          <p:cNvSpPr/>
          <p:nvPr/>
        </p:nvSpPr>
        <p:spPr>
          <a:xfrm>
            <a:off x="0" y="2971800"/>
            <a:ext cx="9144000" cy="0"/>
          </a:xfrm>
          <a:prstGeom prst="line">
            <a:avLst/>
          </a:prstGeom>
          <a:noFill/>
          <a:ln w="6350">
            <a:solidFill>
              <a:srgbClr val="121C28"/>
            </a:solidFill>
            <a:prstDash val="solid"/>
          </a:ln>
        </p:spPr>
      </p:sp>
      <p:sp>
        <p:nvSpPr>
          <p:cNvPr id="8" name="Shape 6"/>
          <p:cNvSpPr/>
          <p:nvPr/>
        </p:nvSpPr>
        <p:spPr>
          <a:xfrm>
            <a:off x="0" y="3566160"/>
            <a:ext cx="9144000" cy="0"/>
          </a:xfrm>
          <a:prstGeom prst="line">
            <a:avLst/>
          </a:prstGeom>
          <a:noFill/>
          <a:ln w="6350">
            <a:solidFill>
              <a:srgbClr val="121C28"/>
            </a:solidFill>
            <a:prstDash val="solid"/>
          </a:ln>
        </p:spPr>
      </p:sp>
      <p:sp>
        <p:nvSpPr>
          <p:cNvPr id="9" name="Shape 7"/>
          <p:cNvSpPr/>
          <p:nvPr/>
        </p:nvSpPr>
        <p:spPr>
          <a:xfrm>
            <a:off x="0" y="4160520"/>
            <a:ext cx="9144000" cy="0"/>
          </a:xfrm>
          <a:prstGeom prst="line">
            <a:avLst/>
          </a:prstGeom>
          <a:noFill/>
          <a:ln w="6350">
            <a:solidFill>
              <a:srgbClr val="121C28"/>
            </a:solidFill>
            <a:prstDash val="solid"/>
          </a:ln>
        </p:spPr>
      </p:sp>
      <p:sp>
        <p:nvSpPr>
          <p:cNvPr id="10" name="Shape 8"/>
          <p:cNvSpPr/>
          <p:nvPr/>
        </p:nvSpPr>
        <p:spPr>
          <a:xfrm>
            <a:off x="0" y="4754880"/>
            <a:ext cx="9144000" cy="0"/>
          </a:xfrm>
          <a:prstGeom prst="line">
            <a:avLst/>
          </a:prstGeom>
          <a:noFill/>
          <a:ln w="6350">
            <a:solidFill>
              <a:srgbClr val="121C28"/>
            </a:solidFill>
            <a:prstDash val="solid"/>
          </a:ln>
        </p:spPr>
      </p:sp>
      <p:sp>
        <p:nvSpPr>
          <p:cNvPr id="11" name="Shape 9"/>
          <p:cNvSpPr/>
          <p:nvPr/>
        </p:nvSpPr>
        <p:spPr>
          <a:xfrm>
            <a:off x="0" y="0"/>
            <a:ext cx="0" cy="5143500"/>
          </a:xfrm>
          <a:prstGeom prst="line">
            <a:avLst/>
          </a:prstGeom>
          <a:noFill/>
          <a:ln w="6350">
            <a:solidFill>
              <a:srgbClr val="121C28"/>
            </a:solidFill>
            <a:prstDash val="solid"/>
          </a:ln>
        </p:spPr>
      </p:sp>
      <p:sp>
        <p:nvSpPr>
          <p:cNvPr id="12" name="Shape 10"/>
          <p:cNvSpPr/>
          <p:nvPr/>
        </p:nvSpPr>
        <p:spPr>
          <a:xfrm>
            <a:off x="594360" y="0"/>
            <a:ext cx="0" cy="5143500"/>
          </a:xfrm>
          <a:prstGeom prst="line">
            <a:avLst/>
          </a:prstGeom>
          <a:noFill/>
          <a:ln w="6350">
            <a:solidFill>
              <a:srgbClr val="121C28"/>
            </a:solidFill>
            <a:prstDash val="solid"/>
          </a:ln>
        </p:spPr>
      </p:sp>
      <p:sp>
        <p:nvSpPr>
          <p:cNvPr id="13" name="Shape 11"/>
          <p:cNvSpPr/>
          <p:nvPr/>
        </p:nvSpPr>
        <p:spPr>
          <a:xfrm>
            <a:off x="1188720" y="0"/>
            <a:ext cx="0" cy="5143500"/>
          </a:xfrm>
          <a:prstGeom prst="line">
            <a:avLst/>
          </a:prstGeom>
          <a:noFill/>
          <a:ln w="6350">
            <a:solidFill>
              <a:srgbClr val="121C28"/>
            </a:solidFill>
            <a:prstDash val="solid"/>
          </a:ln>
        </p:spPr>
      </p:sp>
      <p:sp>
        <p:nvSpPr>
          <p:cNvPr id="14" name="Shape 12"/>
          <p:cNvSpPr/>
          <p:nvPr/>
        </p:nvSpPr>
        <p:spPr>
          <a:xfrm>
            <a:off x="1783080" y="0"/>
            <a:ext cx="0" cy="5143500"/>
          </a:xfrm>
          <a:prstGeom prst="line">
            <a:avLst/>
          </a:prstGeom>
          <a:noFill/>
          <a:ln w="6350">
            <a:solidFill>
              <a:srgbClr val="121C28"/>
            </a:solidFill>
            <a:prstDash val="solid"/>
          </a:ln>
        </p:spPr>
      </p:sp>
      <p:sp>
        <p:nvSpPr>
          <p:cNvPr id="15" name="Shape 13"/>
          <p:cNvSpPr/>
          <p:nvPr/>
        </p:nvSpPr>
        <p:spPr>
          <a:xfrm>
            <a:off x="2377440" y="0"/>
            <a:ext cx="0" cy="5143500"/>
          </a:xfrm>
          <a:prstGeom prst="line">
            <a:avLst/>
          </a:prstGeom>
          <a:noFill/>
          <a:ln w="6350">
            <a:solidFill>
              <a:srgbClr val="121C28"/>
            </a:solidFill>
            <a:prstDash val="solid"/>
          </a:ln>
        </p:spPr>
      </p:sp>
      <p:sp>
        <p:nvSpPr>
          <p:cNvPr id="16" name="Shape 14"/>
          <p:cNvSpPr/>
          <p:nvPr/>
        </p:nvSpPr>
        <p:spPr>
          <a:xfrm>
            <a:off x="2971800" y="0"/>
            <a:ext cx="0" cy="5143500"/>
          </a:xfrm>
          <a:prstGeom prst="line">
            <a:avLst/>
          </a:prstGeom>
          <a:noFill/>
          <a:ln w="6350">
            <a:solidFill>
              <a:srgbClr val="121C28"/>
            </a:solidFill>
            <a:prstDash val="solid"/>
          </a:ln>
        </p:spPr>
      </p:sp>
      <p:sp>
        <p:nvSpPr>
          <p:cNvPr id="17" name="Shape 15"/>
          <p:cNvSpPr/>
          <p:nvPr/>
        </p:nvSpPr>
        <p:spPr>
          <a:xfrm>
            <a:off x="3566160" y="0"/>
            <a:ext cx="0" cy="5143500"/>
          </a:xfrm>
          <a:prstGeom prst="line">
            <a:avLst/>
          </a:prstGeom>
          <a:noFill/>
          <a:ln w="6350">
            <a:solidFill>
              <a:srgbClr val="121C28"/>
            </a:solidFill>
            <a:prstDash val="solid"/>
          </a:ln>
        </p:spPr>
      </p:sp>
      <p:sp>
        <p:nvSpPr>
          <p:cNvPr id="18" name="Shape 16"/>
          <p:cNvSpPr/>
          <p:nvPr/>
        </p:nvSpPr>
        <p:spPr>
          <a:xfrm>
            <a:off x="4160520" y="0"/>
            <a:ext cx="0" cy="5143500"/>
          </a:xfrm>
          <a:prstGeom prst="line">
            <a:avLst/>
          </a:prstGeom>
          <a:noFill/>
          <a:ln w="6350">
            <a:solidFill>
              <a:srgbClr val="121C28"/>
            </a:solidFill>
            <a:prstDash val="solid"/>
          </a:ln>
        </p:spPr>
      </p:sp>
      <p:sp>
        <p:nvSpPr>
          <p:cNvPr id="19" name="Shape 17"/>
          <p:cNvSpPr/>
          <p:nvPr/>
        </p:nvSpPr>
        <p:spPr>
          <a:xfrm>
            <a:off x="4754880" y="0"/>
            <a:ext cx="0" cy="5143500"/>
          </a:xfrm>
          <a:prstGeom prst="line">
            <a:avLst/>
          </a:prstGeom>
          <a:noFill/>
          <a:ln w="6350">
            <a:solidFill>
              <a:srgbClr val="121C28"/>
            </a:solidFill>
            <a:prstDash val="solid"/>
          </a:ln>
        </p:spPr>
      </p:sp>
      <p:sp>
        <p:nvSpPr>
          <p:cNvPr id="20" name="Shape 18"/>
          <p:cNvSpPr/>
          <p:nvPr/>
        </p:nvSpPr>
        <p:spPr>
          <a:xfrm>
            <a:off x="5349240" y="0"/>
            <a:ext cx="0" cy="5143500"/>
          </a:xfrm>
          <a:prstGeom prst="line">
            <a:avLst/>
          </a:prstGeom>
          <a:noFill/>
          <a:ln w="6350">
            <a:solidFill>
              <a:srgbClr val="121C28"/>
            </a:solidFill>
            <a:prstDash val="solid"/>
          </a:ln>
        </p:spPr>
      </p:sp>
      <p:sp>
        <p:nvSpPr>
          <p:cNvPr id="21" name="Shape 19"/>
          <p:cNvSpPr/>
          <p:nvPr/>
        </p:nvSpPr>
        <p:spPr>
          <a:xfrm>
            <a:off x="5943600" y="0"/>
            <a:ext cx="0" cy="5143500"/>
          </a:xfrm>
          <a:prstGeom prst="line">
            <a:avLst/>
          </a:prstGeom>
          <a:noFill/>
          <a:ln w="6350">
            <a:solidFill>
              <a:srgbClr val="121C28"/>
            </a:solidFill>
            <a:prstDash val="solid"/>
          </a:ln>
        </p:spPr>
      </p:sp>
      <p:sp>
        <p:nvSpPr>
          <p:cNvPr id="22" name="Shape 20"/>
          <p:cNvSpPr/>
          <p:nvPr/>
        </p:nvSpPr>
        <p:spPr>
          <a:xfrm>
            <a:off x="6537960" y="0"/>
            <a:ext cx="0" cy="5143500"/>
          </a:xfrm>
          <a:prstGeom prst="line">
            <a:avLst/>
          </a:prstGeom>
          <a:noFill/>
          <a:ln w="6350">
            <a:solidFill>
              <a:srgbClr val="121C28"/>
            </a:solidFill>
            <a:prstDash val="solid"/>
          </a:ln>
        </p:spPr>
      </p:sp>
      <p:sp>
        <p:nvSpPr>
          <p:cNvPr id="23" name="Shape 21"/>
          <p:cNvSpPr/>
          <p:nvPr/>
        </p:nvSpPr>
        <p:spPr>
          <a:xfrm>
            <a:off x="7132320" y="0"/>
            <a:ext cx="0" cy="5143500"/>
          </a:xfrm>
          <a:prstGeom prst="line">
            <a:avLst/>
          </a:prstGeom>
          <a:noFill/>
          <a:ln w="6350">
            <a:solidFill>
              <a:srgbClr val="121C28"/>
            </a:solidFill>
            <a:prstDash val="solid"/>
          </a:ln>
        </p:spPr>
      </p:sp>
      <p:sp>
        <p:nvSpPr>
          <p:cNvPr id="24" name="Shape 22"/>
          <p:cNvSpPr/>
          <p:nvPr/>
        </p:nvSpPr>
        <p:spPr>
          <a:xfrm>
            <a:off x="7726680" y="0"/>
            <a:ext cx="0" cy="5143500"/>
          </a:xfrm>
          <a:prstGeom prst="line">
            <a:avLst/>
          </a:prstGeom>
          <a:noFill/>
          <a:ln w="6350">
            <a:solidFill>
              <a:srgbClr val="121C28"/>
            </a:solidFill>
            <a:prstDash val="solid"/>
          </a:ln>
        </p:spPr>
      </p:sp>
      <p:sp>
        <p:nvSpPr>
          <p:cNvPr id="25" name="Shape 23"/>
          <p:cNvSpPr/>
          <p:nvPr/>
        </p:nvSpPr>
        <p:spPr>
          <a:xfrm>
            <a:off x="8321040" y="0"/>
            <a:ext cx="0" cy="5143500"/>
          </a:xfrm>
          <a:prstGeom prst="line">
            <a:avLst/>
          </a:prstGeom>
          <a:noFill/>
          <a:ln w="6350">
            <a:solidFill>
              <a:srgbClr val="121C28"/>
            </a:solidFill>
            <a:prstDash val="solid"/>
          </a:ln>
        </p:spPr>
      </p:sp>
      <p:sp>
        <p:nvSpPr>
          <p:cNvPr id="26" name="Shape 24"/>
          <p:cNvSpPr/>
          <p:nvPr/>
        </p:nvSpPr>
        <p:spPr>
          <a:xfrm>
            <a:off x="8915400" y="0"/>
            <a:ext cx="0" cy="5143500"/>
          </a:xfrm>
          <a:prstGeom prst="line">
            <a:avLst/>
          </a:prstGeom>
          <a:noFill/>
          <a:ln w="6350">
            <a:solidFill>
              <a:srgbClr val="121C28"/>
            </a:solidFill>
            <a:prstDash val="solid"/>
          </a:ln>
        </p:spPr>
      </p:sp>
      <p:sp>
        <p:nvSpPr>
          <p:cNvPr id="27" name="Shape 25"/>
          <p:cNvSpPr/>
          <p:nvPr/>
        </p:nvSpPr>
        <p:spPr>
          <a:xfrm>
            <a:off x="8732520" y="137160"/>
            <a:ext cx="146304" cy="146304"/>
          </a:xfrm>
          <a:prstGeom prst="ellipse">
            <a:avLst/>
          </a:prstGeom>
          <a:solidFill>
            <a:srgbClr val="00D4FF"/>
          </a:solidFill>
          <a:ln w="12700">
            <a:solidFill>
              <a:srgbClr val="00D4FF"/>
            </a:solidFill>
            <a:prstDash val="solid"/>
          </a:ln>
        </p:spPr>
      </p:sp>
      <p:sp>
        <p:nvSpPr>
          <p:cNvPr id="28" name="Shape 26"/>
          <p:cNvSpPr/>
          <p:nvPr/>
        </p:nvSpPr>
        <p:spPr>
          <a:xfrm>
            <a:off x="384048" y="201168"/>
            <a:ext cx="310896" cy="310896"/>
          </a:xfrm>
          <a:prstGeom prst="rect">
            <a:avLst/>
          </a:prstGeom>
          <a:solidFill>
            <a:srgbClr val="00FF88"/>
          </a:solidFill>
          <a:ln w="12700">
            <a:solidFill>
              <a:srgbClr val="00FF88"/>
            </a:solidFill>
            <a:prstDash val="solid"/>
          </a:ln>
        </p:spPr>
      </p:sp>
      <p:sp>
        <p:nvSpPr>
          <p:cNvPr id="29" name="Text 27"/>
          <p:cNvSpPr/>
          <p:nvPr/>
        </p:nvSpPr>
        <p:spPr>
          <a:xfrm>
            <a:off x="384048" y="201168"/>
            <a:ext cx="310896" cy="310896"/>
          </a:xfrm>
          <a:prstGeom prst="rect">
            <a:avLst/>
          </a:prstGeom>
          <a:noFill/>
          <a:ln/>
        </p:spPr>
        <p:txBody>
          <a:bodyPr wrap="square" lIns="0" tIns="0" rIns="0" bIns="0" rtlCol="0" anchor="ctr"/>
          <a:lstStyle/>
          <a:p>
            <a:pPr algn="ctr" indent="0" marL="0">
              <a:buNone/>
            </a:pPr>
            <a:r>
              <a:rPr lang="en-US" sz="1100" b="1" dirty="0">
                <a:solidFill>
                  <a:srgbClr val="07090F"/>
                </a:solidFill>
                <a:latin typeface="Courier New" pitchFamily="34" charset="0"/>
                <a:ea typeface="Courier New" pitchFamily="34" charset="-122"/>
                <a:cs typeface="Courier New" pitchFamily="34" charset="-120"/>
              </a:rPr>
              <a:t>01</a:t>
            </a:r>
            <a:endParaRPr lang="en-US" sz="1100" dirty="0"/>
          </a:p>
        </p:txBody>
      </p:sp>
      <p:sp>
        <p:nvSpPr>
          <p:cNvPr id="30" name="Text 28"/>
          <p:cNvSpPr/>
          <p:nvPr/>
        </p:nvSpPr>
        <p:spPr>
          <a:xfrm>
            <a:off x="777240" y="201168"/>
            <a:ext cx="7315200" cy="310896"/>
          </a:xfrm>
          <a:prstGeom prst="rect">
            <a:avLst/>
          </a:prstGeom>
          <a:noFill/>
          <a:ln/>
        </p:spPr>
        <p:txBody>
          <a:bodyPr wrap="square" lIns="0" tIns="0" rIns="0" bIns="0" rtlCol="0" anchor="ctr"/>
          <a:lstStyle/>
          <a:p>
            <a:pPr indent="0" marL="0">
              <a:buNone/>
            </a:pPr>
            <a:r>
              <a:rPr lang="en-US" sz="1000" spc="200" kern="0" dirty="0">
                <a:solidFill>
                  <a:srgbClr val="00FF88"/>
                </a:solidFill>
                <a:latin typeface="Courier New" pitchFamily="34" charset="0"/>
                <a:ea typeface="Courier New" pitchFamily="34" charset="-122"/>
                <a:cs typeface="Courier New" pitchFamily="34" charset="-120"/>
              </a:rPr>
              <a:t>WHAT IS AI — AND WHY DOES IT MATTER?</a:t>
            </a:r>
            <a:endParaRPr lang="en-US" sz="1000" dirty="0"/>
          </a:p>
        </p:txBody>
      </p:sp>
      <p:sp>
        <p:nvSpPr>
          <p:cNvPr id="31" name="Text 29"/>
          <p:cNvSpPr/>
          <p:nvPr/>
        </p:nvSpPr>
        <p:spPr>
          <a:xfrm>
            <a:off x="411480" y="658368"/>
            <a:ext cx="8229600" cy="1005840"/>
          </a:xfrm>
          <a:prstGeom prst="rect">
            <a:avLst/>
          </a:prstGeom>
          <a:noFill/>
          <a:ln/>
        </p:spPr>
        <p:txBody>
          <a:bodyPr wrap="square" lIns="0" tIns="0" rIns="0" bIns="0" rtlCol="0" anchor="ctr"/>
          <a:lstStyle/>
          <a:p>
            <a:pPr indent="0" marL="0">
              <a:lnSpc>
                <a:spcPct val="120000"/>
              </a:lnSpc>
              <a:buNone/>
            </a:pPr>
            <a:r>
              <a:rPr lang="en-US" sz="3200" b="1" dirty="0">
                <a:solidFill>
                  <a:srgbClr val="FFFFFF"/>
                </a:solidFill>
                <a:latin typeface="Calibri" pitchFamily="34" charset="0"/>
                <a:ea typeface="Calibri" pitchFamily="34" charset="-122"/>
                <a:cs typeface="Calibri" pitchFamily="34" charset="-120"/>
              </a:rPr>
              <a:t>AI: a new kind of</a:t>
            </a:r>
            <a:endParaRPr lang="en-US" sz="3200" dirty="0"/>
          </a:p>
          <a:p>
            <a:pPr indent="0" marL="0">
              <a:lnSpc>
                <a:spcPct val="120000"/>
              </a:lnSpc>
              <a:buNone/>
            </a:pPr>
            <a:r>
              <a:rPr lang="en-US" sz="3200" b="1" dirty="0">
                <a:solidFill>
                  <a:srgbClr val="FFFFFF"/>
                </a:solidFill>
                <a:latin typeface="Calibri" pitchFamily="34" charset="0"/>
                <a:ea typeface="Calibri" pitchFamily="34" charset="-122"/>
                <a:cs typeface="Calibri" pitchFamily="34" charset="-120"/>
              </a:rPr>
              <a:t>development partner</a:t>
            </a:r>
            <a:endParaRPr lang="en-US" sz="3200" dirty="0"/>
          </a:p>
        </p:txBody>
      </p:sp>
      <p:sp>
        <p:nvSpPr>
          <p:cNvPr id="32" name="Shape 30"/>
          <p:cNvSpPr/>
          <p:nvPr/>
        </p:nvSpPr>
        <p:spPr>
          <a:xfrm>
            <a:off x="411480" y="1828800"/>
            <a:ext cx="2724912" cy="3063240"/>
          </a:xfrm>
          <a:prstGeom prst="rect">
            <a:avLst/>
          </a:prstGeom>
          <a:solidFill>
            <a:srgbClr val="111820"/>
          </a:solidFill>
          <a:ln w="12700">
            <a:solidFill>
              <a:srgbClr val="1E2D3D"/>
            </a:solidFill>
            <a:prstDash val="solid"/>
          </a:ln>
          <a:effectLst>
            <a:outerShdw sx="100000" sy="100000" kx="0" ky="0" algn="bl" rotWithShape="0" blurRad="152400" dist="50800" dir="8100000">
              <a:srgbClr val="000000">
                <a:alpha val="35000"/>
              </a:srgbClr>
            </a:outerShdw>
          </a:effectLst>
        </p:spPr>
      </p:sp>
      <p:sp>
        <p:nvSpPr>
          <p:cNvPr id="33" name="Shape 31"/>
          <p:cNvSpPr/>
          <p:nvPr/>
        </p:nvSpPr>
        <p:spPr>
          <a:xfrm>
            <a:off x="411480" y="1828800"/>
            <a:ext cx="2724912" cy="45720"/>
          </a:xfrm>
          <a:prstGeom prst="rect">
            <a:avLst/>
          </a:prstGeom>
          <a:solidFill>
            <a:srgbClr val="00D4FF"/>
          </a:solidFill>
          <a:ln w="12700">
            <a:solidFill>
              <a:srgbClr val="00D4FF"/>
            </a:solidFill>
            <a:prstDash val="solid"/>
          </a:ln>
        </p:spPr>
      </p:sp>
      <p:sp>
        <p:nvSpPr>
          <p:cNvPr id="34" name="Text 32"/>
          <p:cNvSpPr/>
          <p:nvPr/>
        </p:nvSpPr>
        <p:spPr>
          <a:xfrm>
            <a:off x="1417320" y="2011680"/>
            <a:ext cx="731520" cy="64008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35" name="Text 33"/>
          <p:cNvSpPr/>
          <p:nvPr/>
        </p:nvSpPr>
        <p:spPr>
          <a:xfrm>
            <a:off x="521208" y="2788920"/>
            <a:ext cx="2505456" cy="384048"/>
          </a:xfrm>
          <a:prstGeom prst="rect">
            <a:avLst/>
          </a:prstGeom>
          <a:noFill/>
          <a:ln/>
        </p:spPr>
        <p:txBody>
          <a:bodyPr wrap="square" lIns="0" tIns="0" rIns="0" bIns="0" rtlCol="0" anchor="ctr"/>
          <a:lstStyle/>
          <a:p>
            <a:pPr algn="ctr" indent="0" marL="0">
              <a:buNone/>
            </a:pPr>
            <a:r>
              <a:rPr lang="en-US" sz="1400" b="1" dirty="0">
                <a:solidFill>
                  <a:srgbClr val="00D4FF"/>
                </a:solidFill>
                <a:latin typeface="Calibri" pitchFamily="34" charset="0"/>
                <a:ea typeface="Calibri" pitchFamily="34" charset="-122"/>
                <a:cs typeface="Calibri" pitchFamily="34" charset="-120"/>
              </a:rPr>
              <a:t>Machine Learning</a:t>
            </a:r>
            <a:endParaRPr lang="en-US" sz="1400" dirty="0"/>
          </a:p>
        </p:txBody>
      </p:sp>
      <p:sp>
        <p:nvSpPr>
          <p:cNvPr id="36" name="Text 34"/>
          <p:cNvSpPr/>
          <p:nvPr/>
        </p:nvSpPr>
        <p:spPr>
          <a:xfrm>
            <a:off x="548640" y="3246120"/>
            <a:ext cx="2450592" cy="1508760"/>
          </a:xfrm>
          <a:prstGeom prst="rect">
            <a:avLst/>
          </a:prstGeom>
          <a:noFill/>
          <a:ln/>
        </p:spPr>
        <p:txBody>
          <a:bodyPr wrap="square" lIns="0" tIns="0" rIns="0" bIns="0" rtlCol="0" anchor="ctr"/>
          <a:lstStyle/>
          <a:p>
            <a:pPr indent="0" marL="0">
              <a:lnSpc>
                <a:spcPct val="140000"/>
              </a:lnSpc>
              <a:buNone/>
            </a:pPr>
            <a:r>
              <a:rPr lang="en-US" sz="1150" dirty="0">
                <a:solidFill>
                  <a:srgbClr val="C9D1D9"/>
                </a:solidFill>
                <a:latin typeface="Calibri" pitchFamily="34" charset="0"/>
                <a:ea typeface="Calibri" pitchFamily="34" charset="-122"/>
                <a:cs typeface="Calibri" pitchFamily="34" charset="-120"/>
              </a:rPr>
              <a:t>Systems that learn from data without being explicitly programmed for every rule.</a:t>
            </a:r>
            <a:endParaRPr lang="en-US" sz="1150" dirty="0"/>
          </a:p>
        </p:txBody>
      </p:sp>
      <p:sp>
        <p:nvSpPr>
          <p:cNvPr id="37" name="Shape 35"/>
          <p:cNvSpPr/>
          <p:nvPr/>
        </p:nvSpPr>
        <p:spPr>
          <a:xfrm>
            <a:off x="3319272" y="1828800"/>
            <a:ext cx="2724912" cy="3063240"/>
          </a:xfrm>
          <a:prstGeom prst="rect">
            <a:avLst/>
          </a:prstGeom>
          <a:solidFill>
            <a:srgbClr val="111820"/>
          </a:solidFill>
          <a:ln w="12700">
            <a:solidFill>
              <a:srgbClr val="1E2D3D"/>
            </a:solidFill>
            <a:prstDash val="solid"/>
          </a:ln>
          <a:effectLst>
            <a:outerShdw sx="100000" sy="100000" kx="0" ky="0" algn="bl" rotWithShape="0" blurRad="152400" dist="50800" dir="8100000">
              <a:srgbClr val="000000">
                <a:alpha val="35000"/>
              </a:srgbClr>
            </a:outerShdw>
          </a:effectLst>
        </p:spPr>
      </p:sp>
      <p:sp>
        <p:nvSpPr>
          <p:cNvPr id="38" name="Shape 36"/>
          <p:cNvSpPr/>
          <p:nvPr/>
        </p:nvSpPr>
        <p:spPr>
          <a:xfrm>
            <a:off x="3319272" y="1828800"/>
            <a:ext cx="2724912" cy="45720"/>
          </a:xfrm>
          <a:prstGeom prst="rect">
            <a:avLst/>
          </a:prstGeom>
          <a:solidFill>
            <a:srgbClr val="00FF88"/>
          </a:solidFill>
          <a:ln w="12700">
            <a:solidFill>
              <a:srgbClr val="00FF88"/>
            </a:solidFill>
            <a:prstDash val="solid"/>
          </a:ln>
        </p:spPr>
      </p:sp>
      <p:sp>
        <p:nvSpPr>
          <p:cNvPr id="39" name="Text 37"/>
          <p:cNvSpPr/>
          <p:nvPr/>
        </p:nvSpPr>
        <p:spPr>
          <a:xfrm>
            <a:off x="4325112" y="2011680"/>
            <a:ext cx="731520" cy="64008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40" name="Text 38"/>
          <p:cNvSpPr/>
          <p:nvPr/>
        </p:nvSpPr>
        <p:spPr>
          <a:xfrm>
            <a:off x="3429000" y="2788920"/>
            <a:ext cx="2505456" cy="384048"/>
          </a:xfrm>
          <a:prstGeom prst="rect">
            <a:avLst/>
          </a:prstGeom>
          <a:noFill/>
          <a:ln/>
        </p:spPr>
        <p:txBody>
          <a:bodyPr wrap="square" lIns="0" tIns="0" rIns="0" bIns="0" rtlCol="0" anchor="ctr"/>
          <a:lstStyle/>
          <a:p>
            <a:pPr algn="ctr" indent="0" marL="0">
              <a:buNone/>
            </a:pPr>
            <a:r>
              <a:rPr lang="en-US" sz="1400" b="1" dirty="0">
                <a:solidFill>
                  <a:srgbClr val="00FF88"/>
                </a:solidFill>
                <a:latin typeface="Calibri" pitchFamily="34" charset="0"/>
                <a:ea typeface="Calibri" pitchFamily="34" charset="-122"/>
                <a:cs typeface="Calibri" pitchFamily="34" charset="-120"/>
              </a:rPr>
              <a:t>Large Language Models</a:t>
            </a:r>
            <a:endParaRPr lang="en-US" sz="1400" dirty="0"/>
          </a:p>
        </p:txBody>
      </p:sp>
      <p:sp>
        <p:nvSpPr>
          <p:cNvPr id="41" name="Text 39"/>
          <p:cNvSpPr/>
          <p:nvPr/>
        </p:nvSpPr>
        <p:spPr>
          <a:xfrm>
            <a:off x="3456432" y="3246120"/>
            <a:ext cx="2450592" cy="1508760"/>
          </a:xfrm>
          <a:prstGeom prst="rect">
            <a:avLst/>
          </a:prstGeom>
          <a:noFill/>
          <a:ln/>
        </p:spPr>
        <p:txBody>
          <a:bodyPr wrap="square" lIns="0" tIns="0" rIns="0" bIns="0" rtlCol="0" anchor="ctr"/>
          <a:lstStyle/>
          <a:p>
            <a:pPr indent="0" marL="0">
              <a:lnSpc>
                <a:spcPct val="140000"/>
              </a:lnSpc>
              <a:buNone/>
            </a:pPr>
            <a:r>
              <a:rPr lang="en-US" sz="1150" dirty="0">
                <a:solidFill>
                  <a:srgbClr val="C9D1D9"/>
                </a:solidFill>
                <a:latin typeface="Calibri" pitchFamily="34" charset="0"/>
                <a:ea typeface="Calibri" pitchFamily="34" charset="-122"/>
                <a:cs typeface="Calibri" pitchFamily="34" charset="-120"/>
              </a:rPr>
              <a:t>AI trained on billions of text examples. They understand and generate human language — and code.</a:t>
            </a:r>
            <a:endParaRPr lang="en-US" sz="1150" dirty="0"/>
          </a:p>
        </p:txBody>
      </p:sp>
      <p:sp>
        <p:nvSpPr>
          <p:cNvPr id="42" name="Shape 40"/>
          <p:cNvSpPr/>
          <p:nvPr/>
        </p:nvSpPr>
        <p:spPr>
          <a:xfrm>
            <a:off x="6227064" y="1828800"/>
            <a:ext cx="2724912" cy="3063240"/>
          </a:xfrm>
          <a:prstGeom prst="rect">
            <a:avLst/>
          </a:prstGeom>
          <a:solidFill>
            <a:srgbClr val="111820"/>
          </a:solidFill>
          <a:ln w="12700">
            <a:solidFill>
              <a:srgbClr val="1E2D3D"/>
            </a:solidFill>
            <a:prstDash val="solid"/>
          </a:ln>
          <a:effectLst>
            <a:outerShdw sx="100000" sy="100000" kx="0" ky="0" algn="bl" rotWithShape="0" blurRad="152400" dist="50800" dir="8100000">
              <a:srgbClr val="000000">
                <a:alpha val="35000"/>
              </a:srgbClr>
            </a:outerShdw>
          </a:effectLst>
        </p:spPr>
      </p:sp>
      <p:sp>
        <p:nvSpPr>
          <p:cNvPr id="43" name="Shape 41"/>
          <p:cNvSpPr/>
          <p:nvPr/>
        </p:nvSpPr>
        <p:spPr>
          <a:xfrm>
            <a:off x="6227064" y="1828800"/>
            <a:ext cx="2724912" cy="45720"/>
          </a:xfrm>
          <a:prstGeom prst="rect">
            <a:avLst/>
          </a:prstGeom>
          <a:solidFill>
            <a:srgbClr val="FF6B35"/>
          </a:solidFill>
          <a:ln w="12700">
            <a:solidFill>
              <a:srgbClr val="FF6B35"/>
            </a:solidFill>
            <a:prstDash val="solid"/>
          </a:ln>
        </p:spPr>
      </p:sp>
      <p:sp>
        <p:nvSpPr>
          <p:cNvPr id="44" name="Text 42"/>
          <p:cNvSpPr/>
          <p:nvPr/>
        </p:nvSpPr>
        <p:spPr>
          <a:xfrm>
            <a:off x="7232904" y="2011680"/>
            <a:ext cx="731520" cy="64008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45" name="Text 43"/>
          <p:cNvSpPr/>
          <p:nvPr/>
        </p:nvSpPr>
        <p:spPr>
          <a:xfrm>
            <a:off x="6336792" y="2788920"/>
            <a:ext cx="2505456" cy="384048"/>
          </a:xfrm>
          <a:prstGeom prst="rect">
            <a:avLst/>
          </a:prstGeom>
          <a:noFill/>
          <a:ln/>
        </p:spPr>
        <p:txBody>
          <a:bodyPr wrap="square" lIns="0" tIns="0" rIns="0" bIns="0" rtlCol="0" anchor="ctr"/>
          <a:lstStyle/>
          <a:p>
            <a:pPr algn="ctr" indent="0" marL="0">
              <a:buNone/>
            </a:pPr>
            <a:r>
              <a:rPr lang="en-US" sz="1400" b="1" dirty="0">
                <a:solidFill>
                  <a:srgbClr val="FF6B35"/>
                </a:solidFill>
                <a:latin typeface="Calibri" pitchFamily="34" charset="0"/>
                <a:ea typeface="Calibri" pitchFamily="34" charset="-122"/>
                <a:cs typeface="Calibri" pitchFamily="34" charset="-120"/>
              </a:rPr>
              <a:t>Generative AI</a:t>
            </a:r>
            <a:endParaRPr lang="en-US" sz="1400" dirty="0"/>
          </a:p>
        </p:txBody>
      </p:sp>
      <p:sp>
        <p:nvSpPr>
          <p:cNvPr id="46" name="Text 44"/>
          <p:cNvSpPr/>
          <p:nvPr/>
        </p:nvSpPr>
        <p:spPr>
          <a:xfrm>
            <a:off x="6364224" y="3246120"/>
            <a:ext cx="2450592" cy="1508760"/>
          </a:xfrm>
          <a:prstGeom prst="rect">
            <a:avLst/>
          </a:prstGeom>
          <a:noFill/>
          <a:ln/>
        </p:spPr>
        <p:txBody>
          <a:bodyPr wrap="square" lIns="0" tIns="0" rIns="0" bIns="0" rtlCol="0" anchor="ctr"/>
          <a:lstStyle/>
          <a:p>
            <a:pPr indent="0" marL="0">
              <a:lnSpc>
                <a:spcPct val="140000"/>
              </a:lnSpc>
              <a:buNone/>
            </a:pPr>
            <a:r>
              <a:rPr lang="en-US" sz="1150" dirty="0">
                <a:solidFill>
                  <a:srgbClr val="C9D1D9"/>
                </a:solidFill>
                <a:latin typeface="Calibri" pitchFamily="34" charset="0"/>
                <a:ea typeface="Calibri" pitchFamily="34" charset="-122"/>
                <a:cs typeface="Calibri" pitchFamily="34" charset="-120"/>
              </a:rPr>
              <a:t>AI that creates new content: text, images, code. Tools like ChatGPT, Claude, Copilot.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90F"/>
        </a:solidFill>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6350">
            <a:solidFill>
              <a:srgbClr val="121C28"/>
            </a:solidFill>
            <a:prstDash val="solid"/>
          </a:ln>
        </p:spPr>
      </p:sp>
      <p:sp>
        <p:nvSpPr>
          <p:cNvPr id="3" name="Shape 1"/>
          <p:cNvSpPr/>
          <p:nvPr/>
        </p:nvSpPr>
        <p:spPr>
          <a:xfrm>
            <a:off x="0" y="594360"/>
            <a:ext cx="9144000" cy="0"/>
          </a:xfrm>
          <a:prstGeom prst="line">
            <a:avLst/>
          </a:prstGeom>
          <a:noFill/>
          <a:ln w="6350">
            <a:solidFill>
              <a:srgbClr val="121C28"/>
            </a:solidFill>
            <a:prstDash val="solid"/>
          </a:ln>
        </p:spPr>
      </p:sp>
      <p:sp>
        <p:nvSpPr>
          <p:cNvPr id="4" name="Shape 2"/>
          <p:cNvSpPr/>
          <p:nvPr/>
        </p:nvSpPr>
        <p:spPr>
          <a:xfrm>
            <a:off x="0" y="1188720"/>
            <a:ext cx="9144000" cy="0"/>
          </a:xfrm>
          <a:prstGeom prst="line">
            <a:avLst/>
          </a:prstGeom>
          <a:noFill/>
          <a:ln w="6350">
            <a:solidFill>
              <a:srgbClr val="121C28"/>
            </a:solidFill>
            <a:prstDash val="solid"/>
          </a:ln>
        </p:spPr>
      </p:sp>
      <p:sp>
        <p:nvSpPr>
          <p:cNvPr id="5" name="Shape 3"/>
          <p:cNvSpPr/>
          <p:nvPr/>
        </p:nvSpPr>
        <p:spPr>
          <a:xfrm>
            <a:off x="0" y="1783080"/>
            <a:ext cx="9144000" cy="0"/>
          </a:xfrm>
          <a:prstGeom prst="line">
            <a:avLst/>
          </a:prstGeom>
          <a:noFill/>
          <a:ln w="6350">
            <a:solidFill>
              <a:srgbClr val="121C28"/>
            </a:solidFill>
            <a:prstDash val="solid"/>
          </a:ln>
        </p:spPr>
      </p:sp>
      <p:sp>
        <p:nvSpPr>
          <p:cNvPr id="6" name="Shape 4"/>
          <p:cNvSpPr/>
          <p:nvPr/>
        </p:nvSpPr>
        <p:spPr>
          <a:xfrm>
            <a:off x="0" y="2377440"/>
            <a:ext cx="9144000" cy="0"/>
          </a:xfrm>
          <a:prstGeom prst="line">
            <a:avLst/>
          </a:prstGeom>
          <a:noFill/>
          <a:ln w="6350">
            <a:solidFill>
              <a:srgbClr val="121C28"/>
            </a:solidFill>
            <a:prstDash val="solid"/>
          </a:ln>
        </p:spPr>
      </p:sp>
      <p:sp>
        <p:nvSpPr>
          <p:cNvPr id="7" name="Shape 5"/>
          <p:cNvSpPr/>
          <p:nvPr/>
        </p:nvSpPr>
        <p:spPr>
          <a:xfrm>
            <a:off x="0" y="2971800"/>
            <a:ext cx="9144000" cy="0"/>
          </a:xfrm>
          <a:prstGeom prst="line">
            <a:avLst/>
          </a:prstGeom>
          <a:noFill/>
          <a:ln w="6350">
            <a:solidFill>
              <a:srgbClr val="121C28"/>
            </a:solidFill>
            <a:prstDash val="solid"/>
          </a:ln>
        </p:spPr>
      </p:sp>
      <p:sp>
        <p:nvSpPr>
          <p:cNvPr id="8" name="Shape 6"/>
          <p:cNvSpPr/>
          <p:nvPr/>
        </p:nvSpPr>
        <p:spPr>
          <a:xfrm>
            <a:off x="0" y="3566160"/>
            <a:ext cx="9144000" cy="0"/>
          </a:xfrm>
          <a:prstGeom prst="line">
            <a:avLst/>
          </a:prstGeom>
          <a:noFill/>
          <a:ln w="6350">
            <a:solidFill>
              <a:srgbClr val="121C28"/>
            </a:solidFill>
            <a:prstDash val="solid"/>
          </a:ln>
        </p:spPr>
      </p:sp>
      <p:sp>
        <p:nvSpPr>
          <p:cNvPr id="9" name="Shape 7"/>
          <p:cNvSpPr/>
          <p:nvPr/>
        </p:nvSpPr>
        <p:spPr>
          <a:xfrm>
            <a:off x="0" y="4160520"/>
            <a:ext cx="9144000" cy="0"/>
          </a:xfrm>
          <a:prstGeom prst="line">
            <a:avLst/>
          </a:prstGeom>
          <a:noFill/>
          <a:ln w="6350">
            <a:solidFill>
              <a:srgbClr val="121C28"/>
            </a:solidFill>
            <a:prstDash val="solid"/>
          </a:ln>
        </p:spPr>
      </p:sp>
      <p:sp>
        <p:nvSpPr>
          <p:cNvPr id="10" name="Shape 8"/>
          <p:cNvSpPr/>
          <p:nvPr/>
        </p:nvSpPr>
        <p:spPr>
          <a:xfrm>
            <a:off x="0" y="4754880"/>
            <a:ext cx="9144000" cy="0"/>
          </a:xfrm>
          <a:prstGeom prst="line">
            <a:avLst/>
          </a:prstGeom>
          <a:noFill/>
          <a:ln w="6350">
            <a:solidFill>
              <a:srgbClr val="121C28"/>
            </a:solidFill>
            <a:prstDash val="solid"/>
          </a:ln>
        </p:spPr>
      </p:sp>
      <p:sp>
        <p:nvSpPr>
          <p:cNvPr id="11" name="Shape 9"/>
          <p:cNvSpPr/>
          <p:nvPr/>
        </p:nvSpPr>
        <p:spPr>
          <a:xfrm>
            <a:off x="0" y="0"/>
            <a:ext cx="0" cy="5143500"/>
          </a:xfrm>
          <a:prstGeom prst="line">
            <a:avLst/>
          </a:prstGeom>
          <a:noFill/>
          <a:ln w="6350">
            <a:solidFill>
              <a:srgbClr val="121C28"/>
            </a:solidFill>
            <a:prstDash val="solid"/>
          </a:ln>
        </p:spPr>
      </p:sp>
      <p:sp>
        <p:nvSpPr>
          <p:cNvPr id="12" name="Shape 10"/>
          <p:cNvSpPr/>
          <p:nvPr/>
        </p:nvSpPr>
        <p:spPr>
          <a:xfrm>
            <a:off x="594360" y="0"/>
            <a:ext cx="0" cy="5143500"/>
          </a:xfrm>
          <a:prstGeom prst="line">
            <a:avLst/>
          </a:prstGeom>
          <a:noFill/>
          <a:ln w="6350">
            <a:solidFill>
              <a:srgbClr val="121C28"/>
            </a:solidFill>
            <a:prstDash val="solid"/>
          </a:ln>
        </p:spPr>
      </p:sp>
      <p:sp>
        <p:nvSpPr>
          <p:cNvPr id="13" name="Shape 11"/>
          <p:cNvSpPr/>
          <p:nvPr/>
        </p:nvSpPr>
        <p:spPr>
          <a:xfrm>
            <a:off x="1188720" y="0"/>
            <a:ext cx="0" cy="5143500"/>
          </a:xfrm>
          <a:prstGeom prst="line">
            <a:avLst/>
          </a:prstGeom>
          <a:noFill/>
          <a:ln w="6350">
            <a:solidFill>
              <a:srgbClr val="121C28"/>
            </a:solidFill>
            <a:prstDash val="solid"/>
          </a:ln>
        </p:spPr>
      </p:sp>
      <p:sp>
        <p:nvSpPr>
          <p:cNvPr id="14" name="Shape 12"/>
          <p:cNvSpPr/>
          <p:nvPr/>
        </p:nvSpPr>
        <p:spPr>
          <a:xfrm>
            <a:off x="1783080" y="0"/>
            <a:ext cx="0" cy="5143500"/>
          </a:xfrm>
          <a:prstGeom prst="line">
            <a:avLst/>
          </a:prstGeom>
          <a:noFill/>
          <a:ln w="6350">
            <a:solidFill>
              <a:srgbClr val="121C28"/>
            </a:solidFill>
            <a:prstDash val="solid"/>
          </a:ln>
        </p:spPr>
      </p:sp>
      <p:sp>
        <p:nvSpPr>
          <p:cNvPr id="15" name="Shape 13"/>
          <p:cNvSpPr/>
          <p:nvPr/>
        </p:nvSpPr>
        <p:spPr>
          <a:xfrm>
            <a:off x="2377440" y="0"/>
            <a:ext cx="0" cy="5143500"/>
          </a:xfrm>
          <a:prstGeom prst="line">
            <a:avLst/>
          </a:prstGeom>
          <a:noFill/>
          <a:ln w="6350">
            <a:solidFill>
              <a:srgbClr val="121C28"/>
            </a:solidFill>
            <a:prstDash val="solid"/>
          </a:ln>
        </p:spPr>
      </p:sp>
      <p:sp>
        <p:nvSpPr>
          <p:cNvPr id="16" name="Shape 14"/>
          <p:cNvSpPr/>
          <p:nvPr/>
        </p:nvSpPr>
        <p:spPr>
          <a:xfrm>
            <a:off x="2971800" y="0"/>
            <a:ext cx="0" cy="5143500"/>
          </a:xfrm>
          <a:prstGeom prst="line">
            <a:avLst/>
          </a:prstGeom>
          <a:noFill/>
          <a:ln w="6350">
            <a:solidFill>
              <a:srgbClr val="121C28"/>
            </a:solidFill>
            <a:prstDash val="solid"/>
          </a:ln>
        </p:spPr>
      </p:sp>
      <p:sp>
        <p:nvSpPr>
          <p:cNvPr id="17" name="Shape 15"/>
          <p:cNvSpPr/>
          <p:nvPr/>
        </p:nvSpPr>
        <p:spPr>
          <a:xfrm>
            <a:off x="3566160" y="0"/>
            <a:ext cx="0" cy="5143500"/>
          </a:xfrm>
          <a:prstGeom prst="line">
            <a:avLst/>
          </a:prstGeom>
          <a:noFill/>
          <a:ln w="6350">
            <a:solidFill>
              <a:srgbClr val="121C28"/>
            </a:solidFill>
            <a:prstDash val="solid"/>
          </a:ln>
        </p:spPr>
      </p:sp>
      <p:sp>
        <p:nvSpPr>
          <p:cNvPr id="18" name="Shape 16"/>
          <p:cNvSpPr/>
          <p:nvPr/>
        </p:nvSpPr>
        <p:spPr>
          <a:xfrm>
            <a:off x="4160520" y="0"/>
            <a:ext cx="0" cy="5143500"/>
          </a:xfrm>
          <a:prstGeom prst="line">
            <a:avLst/>
          </a:prstGeom>
          <a:noFill/>
          <a:ln w="6350">
            <a:solidFill>
              <a:srgbClr val="121C28"/>
            </a:solidFill>
            <a:prstDash val="solid"/>
          </a:ln>
        </p:spPr>
      </p:sp>
      <p:sp>
        <p:nvSpPr>
          <p:cNvPr id="19" name="Shape 17"/>
          <p:cNvSpPr/>
          <p:nvPr/>
        </p:nvSpPr>
        <p:spPr>
          <a:xfrm>
            <a:off x="4754880" y="0"/>
            <a:ext cx="0" cy="5143500"/>
          </a:xfrm>
          <a:prstGeom prst="line">
            <a:avLst/>
          </a:prstGeom>
          <a:noFill/>
          <a:ln w="6350">
            <a:solidFill>
              <a:srgbClr val="121C28"/>
            </a:solidFill>
            <a:prstDash val="solid"/>
          </a:ln>
        </p:spPr>
      </p:sp>
      <p:sp>
        <p:nvSpPr>
          <p:cNvPr id="20" name="Shape 18"/>
          <p:cNvSpPr/>
          <p:nvPr/>
        </p:nvSpPr>
        <p:spPr>
          <a:xfrm>
            <a:off x="5349240" y="0"/>
            <a:ext cx="0" cy="5143500"/>
          </a:xfrm>
          <a:prstGeom prst="line">
            <a:avLst/>
          </a:prstGeom>
          <a:noFill/>
          <a:ln w="6350">
            <a:solidFill>
              <a:srgbClr val="121C28"/>
            </a:solidFill>
            <a:prstDash val="solid"/>
          </a:ln>
        </p:spPr>
      </p:sp>
      <p:sp>
        <p:nvSpPr>
          <p:cNvPr id="21" name="Shape 19"/>
          <p:cNvSpPr/>
          <p:nvPr/>
        </p:nvSpPr>
        <p:spPr>
          <a:xfrm>
            <a:off x="5943600" y="0"/>
            <a:ext cx="0" cy="5143500"/>
          </a:xfrm>
          <a:prstGeom prst="line">
            <a:avLst/>
          </a:prstGeom>
          <a:noFill/>
          <a:ln w="6350">
            <a:solidFill>
              <a:srgbClr val="121C28"/>
            </a:solidFill>
            <a:prstDash val="solid"/>
          </a:ln>
        </p:spPr>
      </p:sp>
      <p:sp>
        <p:nvSpPr>
          <p:cNvPr id="22" name="Shape 20"/>
          <p:cNvSpPr/>
          <p:nvPr/>
        </p:nvSpPr>
        <p:spPr>
          <a:xfrm>
            <a:off x="6537960" y="0"/>
            <a:ext cx="0" cy="5143500"/>
          </a:xfrm>
          <a:prstGeom prst="line">
            <a:avLst/>
          </a:prstGeom>
          <a:noFill/>
          <a:ln w="6350">
            <a:solidFill>
              <a:srgbClr val="121C28"/>
            </a:solidFill>
            <a:prstDash val="solid"/>
          </a:ln>
        </p:spPr>
      </p:sp>
      <p:sp>
        <p:nvSpPr>
          <p:cNvPr id="23" name="Shape 21"/>
          <p:cNvSpPr/>
          <p:nvPr/>
        </p:nvSpPr>
        <p:spPr>
          <a:xfrm>
            <a:off x="7132320" y="0"/>
            <a:ext cx="0" cy="5143500"/>
          </a:xfrm>
          <a:prstGeom prst="line">
            <a:avLst/>
          </a:prstGeom>
          <a:noFill/>
          <a:ln w="6350">
            <a:solidFill>
              <a:srgbClr val="121C28"/>
            </a:solidFill>
            <a:prstDash val="solid"/>
          </a:ln>
        </p:spPr>
      </p:sp>
      <p:sp>
        <p:nvSpPr>
          <p:cNvPr id="24" name="Shape 22"/>
          <p:cNvSpPr/>
          <p:nvPr/>
        </p:nvSpPr>
        <p:spPr>
          <a:xfrm>
            <a:off x="7726680" y="0"/>
            <a:ext cx="0" cy="5143500"/>
          </a:xfrm>
          <a:prstGeom prst="line">
            <a:avLst/>
          </a:prstGeom>
          <a:noFill/>
          <a:ln w="6350">
            <a:solidFill>
              <a:srgbClr val="121C28"/>
            </a:solidFill>
            <a:prstDash val="solid"/>
          </a:ln>
        </p:spPr>
      </p:sp>
      <p:sp>
        <p:nvSpPr>
          <p:cNvPr id="25" name="Shape 23"/>
          <p:cNvSpPr/>
          <p:nvPr/>
        </p:nvSpPr>
        <p:spPr>
          <a:xfrm>
            <a:off x="8321040" y="0"/>
            <a:ext cx="0" cy="5143500"/>
          </a:xfrm>
          <a:prstGeom prst="line">
            <a:avLst/>
          </a:prstGeom>
          <a:noFill/>
          <a:ln w="6350">
            <a:solidFill>
              <a:srgbClr val="121C28"/>
            </a:solidFill>
            <a:prstDash val="solid"/>
          </a:ln>
        </p:spPr>
      </p:sp>
      <p:sp>
        <p:nvSpPr>
          <p:cNvPr id="26" name="Shape 24"/>
          <p:cNvSpPr/>
          <p:nvPr/>
        </p:nvSpPr>
        <p:spPr>
          <a:xfrm>
            <a:off x="8915400" y="0"/>
            <a:ext cx="0" cy="5143500"/>
          </a:xfrm>
          <a:prstGeom prst="line">
            <a:avLst/>
          </a:prstGeom>
          <a:noFill/>
          <a:ln w="6350">
            <a:solidFill>
              <a:srgbClr val="121C28"/>
            </a:solidFill>
            <a:prstDash val="solid"/>
          </a:ln>
        </p:spPr>
      </p:sp>
      <p:sp>
        <p:nvSpPr>
          <p:cNvPr id="27" name="Shape 25"/>
          <p:cNvSpPr/>
          <p:nvPr/>
        </p:nvSpPr>
        <p:spPr>
          <a:xfrm>
            <a:off x="8732520" y="137160"/>
            <a:ext cx="146304" cy="146304"/>
          </a:xfrm>
          <a:prstGeom prst="ellipse">
            <a:avLst/>
          </a:prstGeom>
          <a:solidFill>
            <a:srgbClr val="FF6B35"/>
          </a:solidFill>
          <a:ln w="12700">
            <a:solidFill>
              <a:srgbClr val="FF6B35"/>
            </a:solidFill>
            <a:prstDash val="solid"/>
          </a:ln>
        </p:spPr>
      </p:sp>
      <p:sp>
        <p:nvSpPr>
          <p:cNvPr id="28" name="Shape 26"/>
          <p:cNvSpPr/>
          <p:nvPr/>
        </p:nvSpPr>
        <p:spPr>
          <a:xfrm>
            <a:off x="384048" y="201168"/>
            <a:ext cx="310896" cy="310896"/>
          </a:xfrm>
          <a:prstGeom prst="rect">
            <a:avLst/>
          </a:prstGeom>
          <a:solidFill>
            <a:srgbClr val="00FF88"/>
          </a:solidFill>
          <a:ln w="12700">
            <a:solidFill>
              <a:srgbClr val="00FF88"/>
            </a:solidFill>
            <a:prstDash val="solid"/>
          </a:ln>
        </p:spPr>
      </p:sp>
      <p:sp>
        <p:nvSpPr>
          <p:cNvPr id="29" name="Text 27"/>
          <p:cNvSpPr/>
          <p:nvPr/>
        </p:nvSpPr>
        <p:spPr>
          <a:xfrm>
            <a:off x="384048" y="201168"/>
            <a:ext cx="310896" cy="310896"/>
          </a:xfrm>
          <a:prstGeom prst="rect">
            <a:avLst/>
          </a:prstGeom>
          <a:noFill/>
          <a:ln/>
        </p:spPr>
        <p:txBody>
          <a:bodyPr wrap="square" lIns="0" tIns="0" rIns="0" bIns="0" rtlCol="0" anchor="ctr"/>
          <a:lstStyle/>
          <a:p>
            <a:pPr algn="ctr" indent="0" marL="0">
              <a:buNone/>
            </a:pPr>
            <a:r>
              <a:rPr lang="en-US" sz="1100" b="1" dirty="0">
                <a:solidFill>
                  <a:srgbClr val="07090F"/>
                </a:solidFill>
                <a:latin typeface="Courier New" pitchFamily="34" charset="0"/>
                <a:ea typeface="Courier New" pitchFamily="34" charset="-122"/>
                <a:cs typeface="Courier New" pitchFamily="34" charset="-120"/>
              </a:rPr>
              <a:t>02</a:t>
            </a:r>
            <a:endParaRPr lang="en-US" sz="1100" dirty="0"/>
          </a:p>
        </p:txBody>
      </p:sp>
      <p:sp>
        <p:nvSpPr>
          <p:cNvPr id="30" name="Text 28"/>
          <p:cNvSpPr/>
          <p:nvPr/>
        </p:nvSpPr>
        <p:spPr>
          <a:xfrm>
            <a:off x="777240" y="201168"/>
            <a:ext cx="7315200" cy="310896"/>
          </a:xfrm>
          <a:prstGeom prst="rect">
            <a:avLst/>
          </a:prstGeom>
          <a:noFill/>
          <a:ln/>
        </p:spPr>
        <p:txBody>
          <a:bodyPr wrap="square" lIns="0" tIns="0" rIns="0" bIns="0" rtlCol="0" anchor="ctr"/>
          <a:lstStyle/>
          <a:p>
            <a:pPr indent="0" marL="0">
              <a:buNone/>
            </a:pPr>
            <a:r>
              <a:rPr lang="en-US" sz="1000" spc="200" kern="0" dirty="0">
                <a:solidFill>
                  <a:srgbClr val="00FF88"/>
                </a:solidFill>
                <a:latin typeface="Courier New" pitchFamily="34" charset="0"/>
                <a:ea typeface="Courier New" pitchFamily="34" charset="-122"/>
                <a:cs typeface="Courier New" pitchFamily="34" charset="-120"/>
              </a:rPr>
              <a:t>AI TOOLS DEVELOPERS USE TODAY</a:t>
            </a:r>
            <a:endParaRPr lang="en-US" sz="1000" dirty="0"/>
          </a:p>
        </p:txBody>
      </p:sp>
      <p:sp>
        <p:nvSpPr>
          <p:cNvPr id="31" name="Text 29"/>
          <p:cNvSpPr/>
          <p:nvPr/>
        </p:nvSpPr>
        <p:spPr>
          <a:xfrm>
            <a:off x="411480" y="658368"/>
            <a:ext cx="8229600" cy="54864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From idea to code — instantly</a:t>
            </a:r>
            <a:endParaRPr lang="en-US" sz="3200" dirty="0"/>
          </a:p>
        </p:txBody>
      </p:sp>
      <p:sp>
        <p:nvSpPr>
          <p:cNvPr id="32" name="Shape 30"/>
          <p:cNvSpPr/>
          <p:nvPr/>
        </p:nvSpPr>
        <p:spPr>
          <a:xfrm>
            <a:off x="411480" y="1444752"/>
            <a:ext cx="4069080" cy="1572768"/>
          </a:xfrm>
          <a:prstGeom prst="rect">
            <a:avLst/>
          </a:prstGeom>
          <a:solidFill>
            <a:srgbClr val="111820"/>
          </a:solidFill>
          <a:ln w="12700">
            <a:solidFill>
              <a:srgbClr val="1E2D3D"/>
            </a:solidFill>
            <a:prstDash val="solid"/>
          </a:ln>
          <a:effectLst>
            <a:outerShdw sx="100000" sy="100000" kx="0" ky="0" algn="bl" rotWithShape="0" blurRad="152400" dist="50800" dir="8100000">
              <a:srgbClr val="000000">
                <a:alpha val="35000"/>
              </a:srgbClr>
            </a:outerShdw>
          </a:effectLst>
        </p:spPr>
      </p:sp>
      <p:sp>
        <p:nvSpPr>
          <p:cNvPr id="33" name="Shape 31"/>
          <p:cNvSpPr/>
          <p:nvPr/>
        </p:nvSpPr>
        <p:spPr>
          <a:xfrm>
            <a:off x="411480" y="1444752"/>
            <a:ext cx="45720" cy="1572768"/>
          </a:xfrm>
          <a:prstGeom prst="rect">
            <a:avLst/>
          </a:prstGeom>
          <a:solidFill>
            <a:srgbClr val="00FF88"/>
          </a:solidFill>
          <a:ln w="12700">
            <a:solidFill>
              <a:srgbClr val="00FF88"/>
            </a:solidFill>
            <a:prstDash val="solid"/>
          </a:ln>
        </p:spPr>
      </p:sp>
      <p:sp>
        <p:nvSpPr>
          <p:cNvPr id="34" name="Shape 32"/>
          <p:cNvSpPr/>
          <p:nvPr/>
        </p:nvSpPr>
        <p:spPr>
          <a:xfrm>
            <a:off x="539496" y="1536192"/>
            <a:ext cx="1234440" cy="201168"/>
          </a:xfrm>
          <a:prstGeom prst="rect">
            <a:avLst/>
          </a:prstGeom>
          <a:solidFill>
            <a:srgbClr val="07090F"/>
          </a:solidFill>
          <a:ln w="9525">
            <a:solidFill>
              <a:srgbClr val="00FF88"/>
            </a:solidFill>
            <a:prstDash val="solid"/>
          </a:ln>
        </p:spPr>
      </p:sp>
      <p:sp>
        <p:nvSpPr>
          <p:cNvPr id="35" name="Text 33"/>
          <p:cNvSpPr/>
          <p:nvPr/>
        </p:nvSpPr>
        <p:spPr>
          <a:xfrm>
            <a:off x="539496" y="1536192"/>
            <a:ext cx="1234440" cy="201168"/>
          </a:xfrm>
          <a:prstGeom prst="rect">
            <a:avLst/>
          </a:prstGeom>
          <a:noFill/>
          <a:ln/>
        </p:spPr>
        <p:txBody>
          <a:bodyPr wrap="square" lIns="0" tIns="0" rIns="0" bIns="0" rtlCol="0" anchor="ctr"/>
          <a:lstStyle/>
          <a:p>
            <a:pPr algn="ctr" indent="0" marL="0">
              <a:buNone/>
            </a:pPr>
            <a:r>
              <a:rPr lang="en-US" sz="700" b="1" spc="100" kern="0" dirty="0">
                <a:solidFill>
                  <a:srgbClr val="00FF88"/>
                </a:solidFill>
                <a:latin typeface="Courier New" pitchFamily="34" charset="0"/>
                <a:ea typeface="Courier New" pitchFamily="34" charset="-122"/>
                <a:cs typeface="Courier New" pitchFamily="34" charset="-120"/>
              </a:rPr>
              <a:t>CODE COMPLETION</a:t>
            </a:r>
            <a:endParaRPr lang="en-US" sz="700" dirty="0"/>
          </a:p>
        </p:txBody>
      </p:sp>
      <p:sp>
        <p:nvSpPr>
          <p:cNvPr id="36" name="Text 34"/>
          <p:cNvSpPr/>
          <p:nvPr/>
        </p:nvSpPr>
        <p:spPr>
          <a:xfrm>
            <a:off x="539496" y="1792224"/>
            <a:ext cx="3840480" cy="3474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  GitHub Copilot</a:t>
            </a:r>
            <a:endParaRPr lang="en-US" sz="1500" dirty="0"/>
          </a:p>
        </p:txBody>
      </p:sp>
      <p:sp>
        <p:nvSpPr>
          <p:cNvPr id="37" name="Text 35"/>
          <p:cNvSpPr/>
          <p:nvPr/>
        </p:nvSpPr>
        <p:spPr>
          <a:xfrm>
            <a:off x="539496" y="2194560"/>
            <a:ext cx="3840480" cy="713232"/>
          </a:xfrm>
          <a:prstGeom prst="rect">
            <a:avLst/>
          </a:prstGeom>
          <a:noFill/>
          <a:ln/>
        </p:spPr>
        <p:txBody>
          <a:bodyPr wrap="square" lIns="0" tIns="0" rIns="0" bIns="0" rtlCol="0" anchor="ctr"/>
          <a:lstStyle/>
          <a:p>
            <a:pPr indent="0" marL="0">
              <a:lnSpc>
                <a:spcPct val="135000"/>
              </a:lnSpc>
              <a:buNone/>
            </a:pPr>
            <a:r>
              <a:rPr lang="en-US" sz="1100" dirty="0">
                <a:solidFill>
                  <a:srgbClr val="C9D1D9"/>
                </a:solidFill>
                <a:latin typeface="Calibri" pitchFamily="34" charset="0"/>
                <a:ea typeface="Calibri" pitchFamily="34" charset="-122"/>
                <a:cs typeface="Calibri" pitchFamily="34" charset="-120"/>
              </a:rPr>
              <a:t>Autocompletes code in VS Code. Reads your comments and writes the function for you.</a:t>
            </a:r>
            <a:endParaRPr lang="en-US" sz="1100" dirty="0"/>
          </a:p>
        </p:txBody>
      </p:sp>
      <p:sp>
        <p:nvSpPr>
          <p:cNvPr id="38" name="Shape 36"/>
          <p:cNvSpPr/>
          <p:nvPr/>
        </p:nvSpPr>
        <p:spPr>
          <a:xfrm>
            <a:off x="4754880" y="1444752"/>
            <a:ext cx="4069080" cy="1572768"/>
          </a:xfrm>
          <a:prstGeom prst="rect">
            <a:avLst/>
          </a:prstGeom>
          <a:solidFill>
            <a:srgbClr val="111820"/>
          </a:solidFill>
          <a:ln w="12700">
            <a:solidFill>
              <a:srgbClr val="1E2D3D"/>
            </a:solidFill>
            <a:prstDash val="solid"/>
          </a:ln>
          <a:effectLst>
            <a:outerShdw sx="100000" sy="100000" kx="0" ky="0" algn="bl" rotWithShape="0" blurRad="152400" dist="50800" dir="8100000">
              <a:srgbClr val="000000">
                <a:alpha val="35000"/>
              </a:srgbClr>
            </a:outerShdw>
          </a:effectLst>
        </p:spPr>
      </p:sp>
      <p:sp>
        <p:nvSpPr>
          <p:cNvPr id="39" name="Shape 37"/>
          <p:cNvSpPr/>
          <p:nvPr/>
        </p:nvSpPr>
        <p:spPr>
          <a:xfrm>
            <a:off x="4754880" y="1444752"/>
            <a:ext cx="45720" cy="1572768"/>
          </a:xfrm>
          <a:prstGeom prst="rect">
            <a:avLst/>
          </a:prstGeom>
          <a:solidFill>
            <a:srgbClr val="00D4FF"/>
          </a:solidFill>
          <a:ln w="12700">
            <a:solidFill>
              <a:srgbClr val="00D4FF"/>
            </a:solidFill>
            <a:prstDash val="solid"/>
          </a:ln>
        </p:spPr>
      </p:sp>
      <p:sp>
        <p:nvSpPr>
          <p:cNvPr id="40" name="Shape 38"/>
          <p:cNvSpPr/>
          <p:nvPr/>
        </p:nvSpPr>
        <p:spPr>
          <a:xfrm>
            <a:off x="4882896" y="1536192"/>
            <a:ext cx="1234440" cy="201168"/>
          </a:xfrm>
          <a:prstGeom prst="rect">
            <a:avLst/>
          </a:prstGeom>
          <a:solidFill>
            <a:srgbClr val="07090F"/>
          </a:solidFill>
          <a:ln w="9525">
            <a:solidFill>
              <a:srgbClr val="00D4FF"/>
            </a:solidFill>
            <a:prstDash val="solid"/>
          </a:ln>
        </p:spPr>
      </p:sp>
      <p:sp>
        <p:nvSpPr>
          <p:cNvPr id="41" name="Text 39"/>
          <p:cNvSpPr/>
          <p:nvPr/>
        </p:nvSpPr>
        <p:spPr>
          <a:xfrm>
            <a:off x="4882896" y="1536192"/>
            <a:ext cx="1234440" cy="201168"/>
          </a:xfrm>
          <a:prstGeom prst="rect">
            <a:avLst/>
          </a:prstGeom>
          <a:noFill/>
          <a:ln/>
        </p:spPr>
        <p:txBody>
          <a:bodyPr wrap="square" lIns="0" tIns="0" rIns="0" bIns="0" rtlCol="0" anchor="ctr"/>
          <a:lstStyle/>
          <a:p>
            <a:pPr algn="ctr" indent="0" marL="0">
              <a:buNone/>
            </a:pPr>
            <a:r>
              <a:rPr lang="en-US" sz="700" b="1" spc="100" kern="0" dirty="0">
                <a:solidFill>
                  <a:srgbClr val="00D4FF"/>
                </a:solidFill>
                <a:latin typeface="Courier New" pitchFamily="34" charset="0"/>
                <a:ea typeface="Courier New" pitchFamily="34" charset="-122"/>
                <a:cs typeface="Courier New" pitchFamily="34" charset="-120"/>
              </a:rPr>
              <a:t>AI ASSISTANT</a:t>
            </a:r>
            <a:endParaRPr lang="en-US" sz="700" dirty="0"/>
          </a:p>
        </p:txBody>
      </p:sp>
      <p:sp>
        <p:nvSpPr>
          <p:cNvPr id="42" name="Text 40"/>
          <p:cNvSpPr/>
          <p:nvPr/>
        </p:nvSpPr>
        <p:spPr>
          <a:xfrm>
            <a:off x="4882896" y="1792224"/>
            <a:ext cx="3840480" cy="3474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  ChatGPT / Claude</a:t>
            </a:r>
            <a:endParaRPr lang="en-US" sz="1500" dirty="0"/>
          </a:p>
        </p:txBody>
      </p:sp>
      <p:sp>
        <p:nvSpPr>
          <p:cNvPr id="43" name="Text 41"/>
          <p:cNvSpPr/>
          <p:nvPr/>
        </p:nvSpPr>
        <p:spPr>
          <a:xfrm>
            <a:off x="4882896" y="2194560"/>
            <a:ext cx="3840480" cy="713232"/>
          </a:xfrm>
          <a:prstGeom prst="rect">
            <a:avLst/>
          </a:prstGeom>
          <a:noFill/>
          <a:ln/>
        </p:spPr>
        <p:txBody>
          <a:bodyPr wrap="square" lIns="0" tIns="0" rIns="0" bIns="0" rtlCol="0" anchor="ctr"/>
          <a:lstStyle/>
          <a:p>
            <a:pPr indent="0" marL="0">
              <a:lnSpc>
                <a:spcPct val="135000"/>
              </a:lnSpc>
              <a:buNone/>
            </a:pPr>
            <a:r>
              <a:rPr lang="en-US" sz="1100" dirty="0">
                <a:solidFill>
                  <a:srgbClr val="C9D1D9"/>
                </a:solidFill>
                <a:latin typeface="Calibri" pitchFamily="34" charset="0"/>
                <a:ea typeface="Calibri" pitchFamily="34" charset="-122"/>
                <a:cs typeface="Calibri" pitchFamily="34" charset="-120"/>
              </a:rPr>
              <a:t>Explains errors, generates components, writes documentation, suggests architecture.</a:t>
            </a:r>
            <a:endParaRPr lang="en-US" sz="1100" dirty="0"/>
          </a:p>
        </p:txBody>
      </p:sp>
      <p:sp>
        <p:nvSpPr>
          <p:cNvPr id="44" name="Shape 42"/>
          <p:cNvSpPr/>
          <p:nvPr/>
        </p:nvSpPr>
        <p:spPr>
          <a:xfrm>
            <a:off x="411480" y="3227832"/>
            <a:ext cx="4069080" cy="1572768"/>
          </a:xfrm>
          <a:prstGeom prst="rect">
            <a:avLst/>
          </a:prstGeom>
          <a:solidFill>
            <a:srgbClr val="111820"/>
          </a:solidFill>
          <a:ln w="12700">
            <a:solidFill>
              <a:srgbClr val="1E2D3D"/>
            </a:solidFill>
            <a:prstDash val="solid"/>
          </a:ln>
          <a:effectLst>
            <a:outerShdw sx="100000" sy="100000" kx="0" ky="0" algn="bl" rotWithShape="0" blurRad="152400" dist="50800" dir="8100000">
              <a:srgbClr val="000000">
                <a:alpha val="35000"/>
              </a:srgbClr>
            </a:outerShdw>
          </a:effectLst>
        </p:spPr>
      </p:sp>
      <p:sp>
        <p:nvSpPr>
          <p:cNvPr id="45" name="Shape 43"/>
          <p:cNvSpPr/>
          <p:nvPr/>
        </p:nvSpPr>
        <p:spPr>
          <a:xfrm>
            <a:off x="411480" y="3227832"/>
            <a:ext cx="45720" cy="1572768"/>
          </a:xfrm>
          <a:prstGeom prst="rect">
            <a:avLst/>
          </a:prstGeom>
          <a:solidFill>
            <a:srgbClr val="FF6B35"/>
          </a:solidFill>
          <a:ln w="12700">
            <a:solidFill>
              <a:srgbClr val="FF6B35"/>
            </a:solidFill>
            <a:prstDash val="solid"/>
          </a:ln>
        </p:spPr>
      </p:sp>
      <p:sp>
        <p:nvSpPr>
          <p:cNvPr id="46" name="Shape 44"/>
          <p:cNvSpPr/>
          <p:nvPr/>
        </p:nvSpPr>
        <p:spPr>
          <a:xfrm>
            <a:off x="539496" y="3319272"/>
            <a:ext cx="1234440" cy="201168"/>
          </a:xfrm>
          <a:prstGeom prst="rect">
            <a:avLst/>
          </a:prstGeom>
          <a:solidFill>
            <a:srgbClr val="07090F"/>
          </a:solidFill>
          <a:ln w="9525">
            <a:solidFill>
              <a:srgbClr val="FF6B35"/>
            </a:solidFill>
            <a:prstDash val="solid"/>
          </a:ln>
        </p:spPr>
      </p:sp>
      <p:sp>
        <p:nvSpPr>
          <p:cNvPr id="47" name="Text 45"/>
          <p:cNvSpPr/>
          <p:nvPr/>
        </p:nvSpPr>
        <p:spPr>
          <a:xfrm>
            <a:off x="539496" y="3319272"/>
            <a:ext cx="1234440" cy="201168"/>
          </a:xfrm>
          <a:prstGeom prst="rect">
            <a:avLst/>
          </a:prstGeom>
          <a:noFill/>
          <a:ln/>
        </p:spPr>
        <p:txBody>
          <a:bodyPr wrap="square" lIns="0" tIns="0" rIns="0" bIns="0" rtlCol="0" anchor="ctr"/>
          <a:lstStyle/>
          <a:p>
            <a:pPr algn="ctr" indent="0" marL="0">
              <a:buNone/>
            </a:pPr>
            <a:r>
              <a:rPr lang="en-US" sz="700" b="1" spc="100" kern="0" dirty="0">
                <a:solidFill>
                  <a:srgbClr val="FF6B35"/>
                </a:solidFill>
                <a:latin typeface="Courier New" pitchFamily="34" charset="0"/>
                <a:ea typeface="Courier New" pitchFamily="34" charset="-122"/>
                <a:cs typeface="Courier New" pitchFamily="34" charset="-120"/>
              </a:rPr>
              <a:t>UI GENERATION</a:t>
            </a:r>
            <a:endParaRPr lang="en-US" sz="700" dirty="0"/>
          </a:p>
        </p:txBody>
      </p:sp>
      <p:sp>
        <p:nvSpPr>
          <p:cNvPr id="48" name="Text 46"/>
          <p:cNvSpPr/>
          <p:nvPr/>
        </p:nvSpPr>
        <p:spPr>
          <a:xfrm>
            <a:off x="539496" y="3575304"/>
            <a:ext cx="3840480" cy="3474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  v0 by Vercel</a:t>
            </a:r>
            <a:endParaRPr lang="en-US" sz="1500" dirty="0"/>
          </a:p>
        </p:txBody>
      </p:sp>
      <p:sp>
        <p:nvSpPr>
          <p:cNvPr id="49" name="Text 47"/>
          <p:cNvSpPr/>
          <p:nvPr/>
        </p:nvSpPr>
        <p:spPr>
          <a:xfrm>
            <a:off x="539496" y="3977640"/>
            <a:ext cx="3840480" cy="713232"/>
          </a:xfrm>
          <a:prstGeom prst="rect">
            <a:avLst/>
          </a:prstGeom>
          <a:noFill/>
          <a:ln/>
        </p:spPr>
        <p:txBody>
          <a:bodyPr wrap="square" lIns="0" tIns="0" rIns="0" bIns="0" rtlCol="0" anchor="ctr"/>
          <a:lstStyle/>
          <a:p>
            <a:pPr indent="0" marL="0">
              <a:lnSpc>
                <a:spcPct val="135000"/>
              </a:lnSpc>
              <a:buNone/>
            </a:pPr>
            <a:r>
              <a:rPr lang="en-US" sz="1100" dirty="0">
                <a:solidFill>
                  <a:srgbClr val="C9D1D9"/>
                </a:solidFill>
                <a:latin typeface="Calibri" pitchFamily="34" charset="0"/>
                <a:ea typeface="Calibri" pitchFamily="34" charset="-122"/>
                <a:cs typeface="Calibri" pitchFamily="34" charset="-120"/>
              </a:rPr>
              <a:t>Type a UI description, get production-ready React + Tailwind code in seconds.</a:t>
            </a:r>
            <a:endParaRPr lang="en-US" sz="1100" dirty="0"/>
          </a:p>
        </p:txBody>
      </p:sp>
      <p:sp>
        <p:nvSpPr>
          <p:cNvPr id="50" name="Shape 48"/>
          <p:cNvSpPr/>
          <p:nvPr/>
        </p:nvSpPr>
        <p:spPr>
          <a:xfrm>
            <a:off x="4754880" y="3227832"/>
            <a:ext cx="4069080" cy="1572768"/>
          </a:xfrm>
          <a:prstGeom prst="rect">
            <a:avLst/>
          </a:prstGeom>
          <a:solidFill>
            <a:srgbClr val="111820"/>
          </a:solidFill>
          <a:ln w="12700">
            <a:solidFill>
              <a:srgbClr val="1E2D3D"/>
            </a:solidFill>
            <a:prstDash val="solid"/>
          </a:ln>
          <a:effectLst>
            <a:outerShdw sx="100000" sy="100000" kx="0" ky="0" algn="bl" rotWithShape="0" blurRad="152400" dist="50800" dir="8100000">
              <a:srgbClr val="000000">
                <a:alpha val="35000"/>
              </a:srgbClr>
            </a:outerShdw>
          </a:effectLst>
        </p:spPr>
      </p:sp>
      <p:sp>
        <p:nvSpPr>
          <p:cNvPr id="51" name="Shape 49"/>
          <p:cNvSpPr/>
          <p:nvPr/>
        </p:nvSpPr>
        <p:spPr>
          <a:xfrm>
            <a:off x="4754880" y="3227832"/>
            <a:ext cx="45720" cy="1572768"/>
          </a:xfrm>
          <a:prstGeom prst="rect">
            <a:avLst/>
          </a:prstGeom>
          <a:solidFill>
            <a:srgbClr val="AA88FF"/>
          </a:solidFill>
          <a:ln w="12700">
            <a:solidFill>
              <a:srgbClr val="AA88FF"/>
            </a:solidFill>
            <a:prstDash val="solid"/>
          </a:ln>
        </p:spPr>
      </p:sp>
      <p:sp>
        <p:nvSpPr>
          <p:cNvPr id="52" name="Shape 50"/>
          <p:cNvSpPr/>
          <p:nvPr/>
        </p:nvSpPr>
        <p:spPr>
          <a:xfrm>
            <a:off x="4882896" y="3319272"/>
            <a:ext cx="1234440" cy="201168"/>
          </a:xfrm>
          <a:prstGeom prst="rect">
            <a:avLst/>
          </a:prstGeom>
          <a:solidFill>
            <a:srgbClr val="07090F"/>
          </a:solidFill>
          <a:ln w="9525">
            <a:solidFill>
              <a:srgbClr val="AA88FF"/>
            </a:solidFill>
            <a:prstDash val="solid"/>
          </a:ln>
        </p:spPr>
      </p:sp>
      <p:sp>
        <p:nvSpPr>
          <p:cNvPr id="53" name="Text 51"/>
          <p:cNvSpPr/>
          <p:nvPr/>
        </p:nvSpPr>
        <p:spPr>
          <a:xfrm>
            <a:off x="4882896" y="3319272"/>
            <a:ext cx="1234440" cy="201168"/>
          </a:xfrm>
          <a:prstGeom prst="rect">
            <a:avLst/>
          </a:prstGeom>
          <a:noFill/>
          <a:ln/>
        </p:spPr>
        <p:txBody>
          <a:bodyPr wrap="square" lIns="0" tIns="0" rIns="0" bIns="0" rtlCol="0" anchor="ctr"/>
          <a:lstStyle/>
          <a:p>
            <a:pPr algn="ctr" indent="0" marL="0">
              <a:buNone/>
            </a:pPr>
            <a:r>
              <a:rPr lang="en-US" sz="700" b="1" spc="100" kern="0" dirty="0">
                <a:solidFill>
                  <a:srgbClr val="AA88FF"/>
                </a:solidFill>
                <a:latin typeface="Courier New" pitchFamily="34" charset="0"/>
                <a:ea typeface="Courier New" pitchFamily="34" charset="-122"/>
                <a:cs typeface="Courier New" pitchFamily="34" charset="-120"/>
              </a:rPr>
              <a:t>AI EDITOR</a:t>
            </a:r>
            <a:endParaRPr lang="en-US" sz="700" dirty="0"/>
          </a:p>
        </p:txBody>
      </p:sp>
      <p:sp>
        <p:nvSpPr>
          <p:cNvPr id="54" name="Text 52"/>
          <p:cNvSpPr/>
          <p:nvPr/>
        </p:nvSpPr>
        <p:spPr>
          <a:xfrm>
            <a:off x="4882896" y="3575304"/>
            <a:ext cx="3840480" cy="3474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  Cursor IDE</a:t>
            </a:r>
            <a:endParaRPr lang="en-US" sz="1500" dirty="0"/>
          </a:p>
        </p:txBody>
      </p:sp>
      <p:sp>
        <p:nvSpPr>
          <p:cNvPr id="55" name="Text 53"/>
          <p:cNvSpPr/>
          <p:nvPr/>
        </p:nvSpPr>
        <p:spPr>
          <a:xfrm>
            <a:off x="4882896" y="3977640"/>
            <a:ext cx="3840480" cy="713232"/>
          </a:xfrm>
          <a:prstGeom prst="rect">
            <a:avLst/>
          </a:prstGeom>
          <a:noFill/>
          <a:ln/>
        </p:spPr>
        <p:txBody>
          <a:bodyPr wrap="square" lIns="0" tIns="0" rIns="0" bIns="0" rtlCol="0" anchor="ctr"/>
          <a:lstStyle/>
          <a:p>
            <a:pPr indent="0" marL="0">
              <a:lnSpc>
                <a:spcPct val="135000"/>
              </a:lnSpc>
              <a:buNone/>
            </a:pPr>
            <a:r>
              <a:rPr lang="en-US" sz="1100" dirty="0">
                <a:solidFill>
                  <a:srgbClr val="C9D1D9"/>
                </a:solidFill>
                <a:latin typeface="Calibri" pitchFamily="34" charset="0"/>
                <a:ea typeface="Calibri" pitchFamily="34" charset="-122"/>
                <a:cs typeface="Calibri" pitchFamily="34" charset="-120"/>
              </a:rPr>
              <a:t>A code editor built around AI. Chat with your entire codebase and apply changes instantly.</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90F"/>
        </a:solidFill>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6350">
            <a:solidFill>
              <a:srgbClr val="121C28"/>
            </a:solidFill>
            <a:prstDash val="solid"/>
          </a:ln>
        </p:spPr>
      </p:sp>
      <p:sp>
        <p:nvSpPr>
          <p:cNvPr id="3" name="Shape 1"/>
          <p:cNvSpPr/>
          <p:nvPr/>
        </p:nvSpPr>
        <p:spPr>
          <a:xfrm>
            <a:off x="0" y="594360"/>
            <a:ext cx="9144000" cy="0"/>
          </a:xfrm>
          <a:prstGeom prst="line">
            <a:avLst/>
          </a:prstGeom>
          <a:noFill/>
          <a:ln w="6350">
            <a:solidFill>
              <a:srgbClr val="121C28"/>
            </a:solidFill>
            <a:prstDash val="solid"/>
          </a:ln>
        </p:spPr>
      </p:sp>
      <p:sp>
        <p:nvSpPr>
          <p:cNvPr id="4" name="Shape 2"/>
          <p:cNvSpPr/>
          <p:nvPr/>
        </p:nvSpPr>
        <p:spPr>
          <a:xfrm>
            <a:off x="0" y="1188720"/>
            <a:ext cx="9144000" cy="0"/>
          </a:xfrm>
          <a:prstGeom prst="line">
            <a:avLst/>
          </a:prstGeom>
          <a:noFill/>
          <a:ln w="6350">
            <a:solidFill>
              <a:srgbClr val="121C28"/>
            </a:solidFill>
            <a:prstDash val="solid"/>
          </a:ln>
        </p:spPr>
      </p:sp>
      <p:sp>
        <p:nvSpPr>
          <p:cNvPr id="5" name="Shape 3"/>
          <p:cNvSpPr/>
          <p:nvPr/>
        </p:nvSpPr>
        <p:spPr>
          <a:xfrm>
            <a:off x="0" y="1783080"/>
            <a:ext cx="9144000" cy="0"/>
          </a:xfrm>
          <a:prstGeom prst="line">
            <a:avLst/>
          </a:prstGeom>
          <a:noFill/>
          <a:ln w="6350">
            <a:solidFill>
              <a:srgbClr val="121C28"/>
            </a:solidFill>
            <a:prstDash val="solid"/>
          </a:ln>
        </p:spPr>
      </p:sp>
      <p:sp>
        <p:nvSpPr>
          <p:cNvPr id="6" name="Shape 4"/>
          <p:cNvSpPr/>
          <p:nvPr/>
        </p:nvSpPr>
        <p:spPr>
          <a:xfrm>
            <a:off x="0" y="2377440"/>
            <a:ext cx="9144000" cy="0"/>
          </a:xfrm>
          <a:prstGeom prst="line">
            <a:avLst/>
          </a:prstGeom>
          <a:noFill/>
          <a:ln w="6350">
            <a:solidFill>
              <a:srgbClr val="121C28"/>
            </a:solidFill>
            <a:prstDash val="solid"/>
          </a:ln>
        </p:spPr>
      </p:sp>
      <p:sp>
        <p:nvSpPr>
          <p:cNvPr id="7" name="Shape 5"/>
          <p:cNvSpPr/>
          <p:nvPr/>
        </p:nvSpPr>
        <p:spPr>
          <a:xfrm>
            <a:off x="0" y="2971800"/>
            <a:ext cx="9144000" cy="0"/>
          </a:xfrm>
          <a:prstGeom prst="line">
            <a:avLst/>
          </a:prstGeom>
          <a:noFill/>
          <a:ln w="6350">
            <a:solidFill>
              <a:srgbClr val="121C28"/>
            </a:solidFill>
            <a:prstDash val="solid"/>
          </a:ln>
        </p:spPr>
      </p:sp>
      <p:sp>
        <p:nvSpPr>
          <p:cNvPr id="8" name="Shape 6"/>
          <p:cNvSpPr/>
          <p:nvPr/>
        </p:nvSpPr>
        <p:spPr>
          <a:xfrm>
            <a:off x="0" y="3566160"/>
            <a:ext cx="9144000" cy="0"/>
          </a:xfrm>
          <a:prstGeom prst="line">
            <a:avLst/>
          </a:prstGeom>
          <a:noFill/>
          <a:ln w="6350">
            <a:solidFill>
              <a:srgbClr val="121C28"/>
            </a:solidFill>
            <a:prstDash val="solid"/>
          </a:ln>
        </p:spPr>
      </p:sp>
      <p:sp>
        <p:nvSpPr>
          <p:cNvPr id="9" name="Shape 7"/>
          <p:cNvSpPr/>
          <p:nvPr/>
        </p:nvSpPr>
        <p:spPr>
          <a:xfrm>
            <a:off x="0" y="4160520"/>
            <a:ext cx="9144000" cy="0"/>
          </a:xfrm>
          <a:prstGeom prst="line">
            <a:avLst/>
          </a:prstGeom>
          <a:noFill/>
          <a:ln w="6350">
            <a:solidFill>
              <a:srgbClr val="121C28"/>
            </a:solidFill>
            <a:prstDash val="solid"/>
          </a:ln>
        </p:spPr>
      </p:sp>
      <p:sp>
        <p:nvSpPr>
          <p:cNvPr id="10" name="Shape 8"/>
          <p:cNvSpPr/>
          <p:nvPr/>
        </p:nvSpPr>
        <p:spPr>
          <a:xfrm>
            <a:off x="0" y="4754880"/>
            <a:ext cx="9144000" cy="0"/>
          </a:xfrm>
          <a:prstGeom prst="line">
            <a:avLst/>
          </a:prstGeom>
          <a:noFill/>
          <a:ln w="6350">
            <a:solidFill>
              <a:srgbClr val="121C28"/>
            </a:solidFill>
            <a:prstDash val="solid"/>
          </a:ln>
        </p:spPr>
      </p:sp>
      <p:sp>
        <p:nvSpPr>
          <p:cNvPr id="11" name="Shape 9"/>
          <p:cNvSpPr/>
          <p:nvPr/>
        </p:nvSpPr>
        <p:spPr>
          <a:xfrm>
            <a:off x="0" y="0"/>
            <a:ext cx="0" cy="5143500"/>
          </a:xfrm>
          <a:prstGeom prst="line">
            <a:avLst/>
          </a:prstGeom>
          <a:noFill/>
          <a:ln w="6350">
            <a:solidFill>
              <a:srgbClr val="121C28"/>
            </a:solidFill>
            <a:prstDash val="solid"/>
          </a:ln>
        </p:spPr>
      </p:sp>
      <p:sp>
        <p:nvSpPr>
          <p:cNvPr id="12" name="Shape 10"/>
          <p:cNvSpPr/>
          <p:nvPr/>
        </p:nvSpPr>
        <p:spPr>
          <a:xfrm>
            <a:off x="594360" y="0"/>
            <a:ext cx="0" cy="5143500"/>
          </a:xfrm>
          <a:prstGeom prst="line">
            <a:avLst/>
          </a:prstGeom>
          <a:noFill/>
          <a:ln w="6350">
            <a:solidFill>
              <a:srgbClr val="121C28"/>
            </a:solidFill>
            <a:prstDash val="solid"/>
          </a:ln>
        </p:spPr>
      </p:sp>
      <p:sp>
        <p:nvSpPr>
          <p:cNvPr id="13" name="Shape 11"/>
          <p:cNvSpPr/>
          <p:nvPr/>
        </p:nvSpPr>
        <p:spPr>
          <a:xfrm>
            <a:off x="1188720" y="0"/>
            <a:ext cx="0" cy="5143500"/>
          </a:xfrm>
          <a:prstGeom prst="line">
            <a:avLst/>
          </a:prstGeom>
          <a:noFill/>
          <a:ln w="6350">
            <a:solidFill>
              <a:srgbClr val="121C28"/>
            </a:solidFill>
            <a:prstDash val="solid"/>
          </a:ln>
        </p:spPr>
      </p:sp>
      <p:sp>
        <p:nvSpPr>
          <p:cNvPr id="14" name="Shape 12"/>
          <p:cNvSpPr/>
          <p:nvPr/>
        </p:nvSpPr>
        <p:spPr>
          <a:xfrm>
            <a:off x="1783080" y="0"/>
            <a:ext cx="0" cy="5143500"/>
          </a:xfrm>
          <a:prstGeom prst="line">
            <a:avLst/>
          </a:prstGeom>
          <a:noFill/>
          <a:ln w="6350">
            <a:solidFill>
              <a:srgbClr val="121C28"/>
            </a:solidFill>
            <a:prstDash val="solid"/>
          </a:ln>
        </p:spPr>
      </p:sp>
      <p:sp>
        <p:nvSpPr>
          <p:cNvPr id="15" name="Shape 13"/>
          <p:cNvSpPr/>
          <p:nvPr/>
        </p:nvSpPr>
        <p:spPr>
          <a:xfrm>
            <a:off x="2377440" y="0"/>
            <a:ext cx="0" cy="5143500"/>
          </a:xfrm>
          <a:prstGeom prst="line">
            <a:avLst/>
          </a:prstGeom>
          <a:noFill/>
          <a:ln w="6350">
            <a:solidFill>
              <a:srgbClr val="121C28"/>
            </a:solidFill>
            <a:prstDash val="solid"/>
          </a:ln>
        </p:spPr>
      </p:sp>
      <p:sp>
        <p:nvSpPr>
          <p:cNvPr id="16" name="Shape 14"/>
          <p:cNvSpPr/>
          <p:nvPr/>
        </p:nvSpPr>
        <p:spPr>
          <a:xfrm>
            <a:off x="2971800" y="0"/>
            <a:ext cx="0" cy="5143500"/>
          </a:xfrm>
          <a:prstGeom prst="line">
            <a:avLst/>
          </a:prstGeom>
          <a:noFill/>
          <a:ln w="6350">
            <a:solidFill>
              <a:srgbClr val="121C28"/>
            </a:solidFill>
            <a:prstDash val="solid"/>
          </a:ln>
        </p:spPr>
      </p:sp>
      <p:sp>
        <p:nvSpPr>
          <p:cNvPr id="17" name="Shape 15"/>
          <p:cNvSpPr/>
          <p:nvPr/>
        </p:nvSpPr>
        <p:spPr>
          <a:xfrm>
            <a:off x="3566160" y="0"/>
            <a:ext cx="0" cy="5143500"/>
          </a:xfrm>
          <a:prstGeom prst="line">
            <a:avLst/>
          </a:prstGeom>
          <a:noFill/>
          <a:ln w="6350">
            <a:solidFill>
              <a:srgbClr val="121C28"/>
            </a:solidFill>
            <a:prstDash val="solid"/>
          </a:ln>
        </p:spPr>
      </p:sp>
      <p:sp>
        <p:nvSpPr>
          <p:cNvPr id="18" name="Shape 16"/>
          <p:cNvSpPr/>
          <p:nvPr/>
        </p:nvSpPr>
        <p:spPr>
          <a:xfrm>
            <a:off x="4160520" y="0"/>
            <a:ext cx="0" cy="5143500"/>
          </a:xfrm>
          <a:prstGeom prst="line">
            <a:avLst/>
          </a:prstGeom>
          <a:noFill/>
          <a:ln w="6350">
            <a:solidFill>
              <a:srgbClr val="121C28"/>
            </a:solidFill>
            <a:prstDash val="solid"/>
          </a:ln>
        </p:spPr>
      </p:sp>
      <p:sp>
        <p:nvSpPr>
          <p:cNvPr id="19" name="Shape 17"/>
          <p:cNvSpPr/>
          <p:nvPr/>
        </p:nvSpPr>
        <p:spPr>
          <a:xfrm>
            <a:off x="4754880" y="0"/>
            <a:ext cx="0" cy="5143500"/>
          </a:xfrm>
          <a:prstGeom prst="line">
            <a:avLst/>
          </a:prstGeom>
          <a:noFill/>
          <a:ln w="6350">
            <a:solidFill>
              <a:srgbClr val="121C28"/>
            </a:solidFill>
            <a:prstDash val="solid"/>
          </a:ln>
        </p:spPr>
      </p:sp>
      <p:sp>
        <p:nvSpPr>
          <p:cNvPr id="20" name="Shape 18"/>
          <p:cNvSpPr/>
          <p:nvPr/>
        </p:nvSpPr>
        <p:spPr>
          <a:xfrm>
            <a:off x="5349240" y="0"/>
            <a:ext cx="0" cy="5143500"/>
          </a:xfrm>
          <a:prstGeom prst="line">
            <a:avLst/>
          </a:prstGeom>
          <a:noFill/>
          <a:ln w="6350">
            <a:solidFill>
              <a:srgbClr val="121C28"/>
            </a:solidFill>
            <a:prstDash val="solid"/>
          </a:ln>
        </p:spPr>
      </p:sp>
      <p:sp>
        <p:nvSpPr>
          <p:cNvPr id="21" name="Shape 19"/>
          <p:cNvSpPr/>
          <p:nvPr/>
        </p:nvSpPr>
        <p:spPr>
          <a:xfrm>
            <a:off x="5943600" y="0"/>
            <a:ext cx="0" cy="5143500"/>
          </a:xfrm>
          <a:prstGeom prst="line">
            <a:avLst/>
          </a:prstGeom>
          <a:noFill/>
          <a:ln w="6350">
            <a:solidFill>
              <a:srgbClr val="121C28"/>
            </a:solidFill>
            <a:prstDash val="solid"/>
          </a:ln>
        </p:spPr>
      </p:sp>
      <p:sp>
        <p:nvSpPr>
          <p:cNvPr id="22" name="Shape 20"/>
          <p:cNvSpPr/>
          <p:nvPr/>
        </p:nvSpPr>
        <p:spPr>
          <a:xfrm>
            <a:off x="6537960" y="0"/>
            <a:ext cx="0" cy="5143500"/>
          </a:xfrm>
          <a:prstGeom prst="line">
            <a:avLst/>
          </a:prstGeom>
          <a:noFill/>
          <a:ln w="6350">
            <a:solidFill>
              <a:srgbClr val="121C28"/>
            </a:solidFill>
            <a:prstDash val="solid"/>
          </a:ln>
        </p:spPr>
      </p:sp>
      <p:sp>
        <p:nvSpPr>
          <p:cNvPr id="23" name="Shape 21"/>
          <p:cNvSpPr/>
          <p:nvPr/>
        </p:nvSpPr>
        <p:spPr>
          <a:xfrm>
            <a:off x="7132320" y="0"/>
            <a:ext cx="0" cy="5143500"/>
          </a:xfrm>
          <a:prstGeom prst="line">
            <a:avLst/>
          </a:prstGeom>
          <a:noFill/>
          <a:ln w="6350">
            <a:solidFill>
              <a:srgbClr val="121C28"/>
            </a:solidFill>
            <a:prstDash val="solid"/>
          </a:ln>
        </p:spPr>
      </p:sp>
      <p:sp>
        <p:nvSpPr>
          <p:cNvPr id="24" name="Shape 22"/>
          <p:cNvSpPr/>
          <p:nvPr/>
        </p:nvSpPr>
        <p:spPr>
          <a:xfrm>
            <a:off x="7726680" y="0"/>
            <a:ext cx="0" cy="5143500"/>
          </a:xfrm>
          <a:prstGeom prst="line">
            <a:avLst/>
          </a:prstGeom>
          <a:noFill/>
          <a:ln w="6350">
            <a:solidFill>
              <a:srgbClr val="121C28"/>
            </a:solidFill>
            <a:prstDash val="solid"/>
          </a:ln>
        </p:spPr>
      </p:sp>
      <p:sp>
        <p:nvSpPr>
          <p:cNvPr id="25" name="Shape 23"/>
          <p:cNvSpPr/>
          <p:nvPr/>
        </p:nvSpPr>
        <p:spPr>
          <a:xfrm>
            <a:off x="8321040" y="0"/>
            <a:ext cx="0" cy="5143500"/>
          </a:xfrm>
          <a:prstGeom prst="line">
            <a:avLst/>
          </a:prstGeom>
          <a:noFill/>
          <a:ln w="6350">
            <a:solidFill>
              <a:srgbClr val="121C28"/>
            </a:solidFill>
            <a:prstDash val="solid"/>
          </a:ln>
        </p:spPr>
      </p:sp>
      <p:sp>
        <p:nvSpPr>
          <p:cNvPr id="26" name="Shape 24"/>
          <p:cNvSpPr/>
          <p:nvPr/>
        </p:nvSpPr>
        <p:spPr>
          <a:xfrm>
            <a:off x="8915400" y="0"/>
            <a:ext cx="0" cy="5143500"/>
          </a:xfrm>
          <a:prstGeom prst="line">
            <a:avLst/>
          </a:prstGeom>
          <a:noFill/>
          <a:ln w="6350">
            <a:solidFill>
              <a:srgbClr val="121C28"/>
            </a:solidFill>
            <a:prstDash val="solid"/>
          </a:ln>
        </p:spPr>
      </p:sp>
      <p:sp>
        <p:nvSpPr>
          <p:cNvPr id="27" name="Shape 25"/>
          <p:cNvSpPr/>
          <p:nvPr/>
        </p:nvSpPr>
        <p:spPr>
          <a:xfrm>
            <a:off x="8732520" y="137160"/>
            <a:ext cx="146304" cy="146304"/>
          </a:xfrm>
          <a:prstGeom prst="ellipse">
            <a:avLst/>
          </a:prstGeom>
          <a:solidFill>
            <a:srgbClr val="AA88FF"/>
          </a:solidFill>
          <a:ln w="12700">
            <a:solidFill>
              <a:srgbClr val="AA88FF"/>
            </a:solidFill>
            <a:prstDash val="solid"/>
          </a:ln>
        </p:spPr>
      </p:sp>
      <p:sp>
        <p:nvSpPr>
          <p:cNvPr id="28" name="Shape 26"/>
          <p:cNvSpPr/>
          <p:nvPr/>
        </p:nvSpPr>
        <p:spPr>
          <a:xfrm>
            <a:off x="384048" y="201168"/>
            <a:ext cx="310896" cy="310896"/>
          </a:xfrm>
          <a:prstGeom prst="rect">
            <a:avLst/>
          </a:prstGeom>
          <a:solidFill>
            <a:srgbClr val="00FF88"/>
          </a:solidFill>
          <a:ln w="12700">
            <a:solidFill>
              <a:srgbClr val="00FF88"/>
            </a:solidFill>
            <a:prstDash val="solid"/>
          </a:ln>
        </p:spPr>
      </p:sp>
      <p:sp>
        <p:nvSpPr>
          <p:cNvPr id="29" name="Text 27"/>
          <p:cNvSpPr/>
          <p:nvPr/>
        </p:nvSpPr>
        <p:spPr>
          <a:xfrm>
            <a:off x="384048" y="201168"/>
            <a:ext cx="310896" cy="310896"/>
          </a:xfrm>
          <a:prstGeom prst="rect">
            <a:avLst/>
          </a:prstGeom>
          <a:noFill/>
          <a:ln/>
        </p:spPr>
        <p:txBody>
          <a:bodyPr wrap="square" lIns="0" tIns="0" rIns="0" bIns="0" rtlCol="0" anchor="ctr"/>
          <a:lstStyle/>
          <a:p>
            <a:pPr algn="ctr" indent="0" marL="0">
              <a:buNone/>
            </a:pPr>
            <a:r>
              <a:rPr lang="en-US" sz="1100" b="1" dirty="0">
                <a:solidFill>
                  <a:srgbClr val="07090F"/>
                </a:solidFill>
                <a:latin typeface="Courier New" pitchFamily="34" charset="0"/>
                <a:ea typeface="Courier New" pitchFamily="34" charset="-122"/>
                <a:cs typeface="Courier New" pitchFamily="34" charset="-120"/>
              </a:rPr>
              <a:t>03</a:t>
            </a:r>
            <a:endParaRPr lang="en-US" sz="1100" dirty="0"/>
          </a:p>
        </p:txBody>
      </p:sp>
      <p:sp>
        <p:nvSpPr>
          <p:cNvPr id="30" name="Text 28"/>
          <p:cNvSpPr/>
          <p:nvPr/>
        </p:nvSpPr>
        <p:spPr>
          <a:xfrm>
            <a:off x="777240" y="201168"/>
            <a:ext cx="7315200" cy="310896"/>
          </a:xfrm>
          <a:prstGeom prst="rect">
            <a:avLst/>
          </a:prstGeom>
          <a:noFill/>
          <a:ln/>
        </p:spPr>
        <p:txBody>
          <a:bodyPr wrap="square" lIns="0" tIns="0" rIns="0" bIns="0" rtlCol="0" anchor="ctr"/>
          <a:lstStyle/>
          <a:p>
            <a:pPr indent="0" marL="0">
              <a:buNone/>
            </a:pPr>
            <a:r>
              <a:rPr lang="en-US" sz="1000" spc="200" kern="0" dirty="0">
                <a:solidFill>
                  <a:srgbClr val="00FF88"/>
                </a:solidFill>
                <a:latin typeface="Courier New" pitchFamily="34" charset="0"/>
                <a:ea typeface="Courier New" pitchFamily="34" charset="-122"/>
                <a:cs typeface="Courier New" pitchFamily="34" charset="-120"/>
              </a:rPr>
              <a:t>THE REAL IMPACT — BEFORE vs AFTER AI</a:t>
            </a:r>
            <a:endParaRPr lang="en-US" sz="1000" dirty="0"/>
          </a:p>
        </p:txBody>
      </p:sp>
      <p:sp>
        <p:nvSpPr>
          <p:cNvPr id="31" name="Text 29"/>
          <p:cNvSpPr/>
          <p:nvPr/>
        </p:nvSpPr>
        <p:spPr>
          <a:xfrm>
            <a:off x="411480" y="658368"/>
            <a:ext cx="8229600" cy="54864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Same task. Very different story.</a:t>
            </a:r>
            <a:endParaRPr lang="en-US" sz="3200" dirty="0"/>
          </a:p>
        </p:txBody>
      </p:sp>
      <p:sp>
        <p:nvSpPr>
          <p:cNvPr id="32" name="Shape 30"/>
          <p:cNvSpPr/>
          <p:nvPr/>
        </p:nvSpPr>
        <p:spPr>
          <a:xfrm>
            <a:off x="411480" y="1389888"/>
            <a:ext cx="4023360" cy="347472"/>
          </a:xfrm>
          <a:prstGeom prst="rect">
            <a:avLst/>
          </a:prstGeom>
          <a:solidFill>
            <a:srgbClr val="111820"/>
          </a:solidFill>
          <a:ln w="12700">
            <a:solidFill>
              <a:srgbClr val="1E2D3D"/>
            </a:solidFill>
            <a:prstDash val="solid"/>
          </a:ln>
        </p:spPr>
      </p:sp>
      <p:sp>
        <p:nvSpPr>
          <p:cNvPr id="33" name="Text 31"/>
          <p:cNvSpPr/>
          <p:nvPr/>
        </p:nvSpPr>
        <p:spPr>
          <a:xfrm>
            <a:off x="548640" y="1389888"/>
            <a:ext cx="3749040" cy="347472"/>
          </a:xfrm>
          <a:prstGeom prst="rect">
            <a:avLst/>
          </a:prstGeom>
          <a:noFill/>
          <a:ln/>
        </p:spPr>
        <p:txBody>
          <a:bodyPr wrap="square" lIns="0" tIns="0" rIns="0" bIns="0" rtlCol="0" anchor="ctr"/>
          <a:lstStyle/>
          <a:p>
            <a:pPr indent="0" marL="0">
              <a:buNone/>
            </a:pPr>
            <a:r>
              <a:rPr lang="en-US" sz="1300" b="1" dirty="0">
                <a:solidFill>
                  <a:srgbClr val="506070"/>
                </a:solidFill>
                <a:latin typeface="Calibri" pitchFamily="34" charset="0"/>
                <a:ea typeface="Calibri" pitchFamily="34" charset="-122"/>
                <a:cs typeface="Calibri" pitchFamily="34" charset="-120"/>
              </a:rPr>
              <a:t>⏳  WITHOUT AI</a:t>
            </a:r>
            <a:endParaRPr lang="en-US" sz="1300" dirty="0"/>
          </a:p>
        </p:txBody>
      </p:sp>
      <p:sp>
        <p:nvSpPr>
          <p:cNvPr id="34" name="Shape 32"/>
          <p:cNvSpPr/>
          <p:nvPr/>
        </p:nvSpPr>
        <p:spPr>
          <a:xfrm>
            <a:off x="4709160" y="1389888"/>
            <a:ext cx="4023360" cy="347472"/>
          </a:xfrm>
          <a:prstGeom prst="rect">
            <a:avLst/>
          </a:prstGeom>
          <a:solidFill>
            <a:srgbClr val="111820"/>
          </a:solidFill>
          <a:ln w="12700">
            <a:solidFill>
              <a:srgbClr val="1E2D3D"/>
            </a:solidFill>
            <a:prstDash val="solid"/>
          </a:ln>
        </p:spPr>
      </p:sp>
      <p:sp>
        <p:nvSpPr>
          <p:cNvPr id="35" name="Text 33"/>
          <p:cNvSpPr/>
          <p:nvPr/>
        </p:nvSpPr>
        <p:spPr>
          <a:xfrm>
            <a:off x="4846320" y="1389888"/>
            <a:ext cx="3749040" cy="347472"/>
          </a:xfrm>
          <a:prstGeom prst="rect">
            <a:avLst/>
          </a:prstGeom>
          <a:noFill/>
          <a:ln/>
        </p:spPr>
        <p:txBody>
          <a:bodyPr wrap="square" lIns="0" tIns="0" rIns="0" bIns="0" rtlCol="0" anchor="ctr"/>
          <a:lstStyle/>
          <a:p>
            <a:pPr indent="0" marL="0">
              <a:buNone/>
            </a:pPr>
            <a:r>
              <a:rPr lang="en-US" sz="1300" b="1" dirty="0">
                <a:solidFill>
                  <a:srgbClr val="00FF88"/>
                </a:solidFill>
                <a:latin typeface="Calibri" pitchFamily="34" charset="0"/>
                <a:ea typeface="Calibri" pitchFamily="34" charset="-122"/>
                <a:cs typeface="Calibri" pitchFamily="34" charset="-120"/>
              </a:rPr>
              <a:t>⚡  WITH AI</a:t>
            </a:r>
            <a:endParaRPr lang="en-US" sz="1300" dirty="0"/>
          </a:p>
        </p:txBody>
      </p:sp>
      <p:sp>
        <p:nvSpPr>
          <p:cNvPr id="36" name="Shape 34"/>
          <p:cNvSpPr/>
          <p:nvPr/>
        </p:nvSpPr>
        <p:spPr>
          <a:xfrm>
            <a:off x="411480" y="1874520"/>
            <a:ext cx="8321040" cy="274320"/>
          </a:xfrm>
          <a:prstGeom prst="rect">
            <a:avLst/>
          </a:prstGeom>
          <a:solidFill>
            <a:srgbClr val="0A1520"/>
          </a:solidFill>
          <a:ln w="12700">
            <a:solidFill>
              <a:srgbClr val="1E2D3D"/>
            </a:solidFill>
            <a:prstDash val="solid"/>
          </a:ln>
        </p:spPr>
      </p:sp>
      <p:sp>
        <p:nvSpPr>
          <p:cNvPr id="37" name="Text 35"/>
          <p:cNvSpPr/>
          <p:nvPr/>
        </p:nvSpPr>
        <p:spPr>
          <a:xfrm>
            <a:off x="502920" y="1874520"/>
            <a:ext cx="8138160" cy="274320"/>
          </a:xfrm>
          <a:prstGeom prst="rect">
            <a:avLst/>
          </a:prstGeom>
          <a:noFill/>
          <a:ln/>
        </p:spPr>
        <p:txBody>
          <a:bodyPr wrap="square" lIns="0" tIns="0" rIns="0" bIns="0" rtlCol="0" anchor="ctr"/>
          <a:lstStyle/>
          <a:p>
            <a:pPr indent="0" marL="0">
              <a:buNone/>
            </a:pPr>
            <a:r>
              <a:rPr lang="en-US" sz="1000" dirty="0">
                <a:solidFill>
                  <a:srgbClr val="00D4FF"/>
                </a:solidFill>
                <a:latin typeface="Courier New" pitchFamily="34" charset="0"/>
                <a:ea typeface="Courier New" pitchFamily="34" charset="-122"/>
                <a:cs typeface="Courier New" pitchFamily="34" charset="-120"/>
              </a:rPr>
              <a:t>▸  Write a login form (HTML+CSS+JS)</a:t>
            </a:r>
            <a:endParaRPr lang="en-US" sz="1000" dirty="0"/>
          </a:p>
        </p:txBody>
      </p:sp>
      <p:sp>
        <p:nvSpPr>
          <p:cNvPr id="38" name="Shape 36"/>
          <p:cNvSpPr/>
          <p:nvPr/>
        </p:nvSpPr>
        <p:spPr>
          <a:xfrm>
            <a:off x="411480" y="2148840"/>
            <a:ext cx="4023360" cy="384048"/>
          </a:xfrm>
          <a:prstGeom prst="rect">
            <a:avLst/>
          </a:prstGeom>
          <a:solidFill>
            <a:srgbClr val="111820"/>
          </a:solidFill>
          <a:ln w="12700">
            <a:solidFill>
              <a:srgbClr val="1E2D3D"/>
            </a:solidFill>
            <a:prstDash val="solid"/>
          </a:ln>
        </p:spPr>
      </p:sp>
      <p:sp>
        <p:nvSpPr>
          <p:cNvPr id="39" name="Text 37"/>
          <p:cNvSpPr/>
          <p:nvPr/>
        </p:nvSpPr>
        <p:spPr>
          <a:xfrm>
            <a:off x="548640" y="2148840"/>
            <a:ext cx="3840480" cy="384048"/>
          </a:xfrm>
          <a:prstGeom prst="rect">
            <a:avLst/>
          </a:prstGeom>
          <a:noFill/>
          <a:ln/>
        </p:spPr>
        <p:txBody>
          <a:bodyPr wrap="square" lIns="0" tIns="0" rIns="0" bIns="0" rtlCol="0" anchor="ctr"/>
          <a:lstStyle/>
          <a:p>
            <a:pPr indent="0" marL="0">
              <a:buNone/>
            </a:pPr>
            <a:r>
              <a:rPr lang="en-US" sz="1100" dirty="0">
                <a:solidFill>
                  <a:srgbClr val="506070"/>
                </a:solidFill>
                <a:latin typeface="Calibri" pitchFamily="34" charset="0"/>
                <a:ea typeface="Calibri" pitchFamily="34" charset="-122"/>
                <a:cs typeface="Calibri" pitchFamily="34" charset="-120"/>
              </a:rPr>
              <a:t>✗  ~2–3 hours</a:t>
            </a:r>
            <a:endParaRPr lang="en-US" sz="1100" dirty="0"/>
          </a:p>
        </p:txBody>
      </p:sp>
      <p:sp>
        <p:nvSpPr>
          <p:cNvPr id="40" name="Shape 38"/>
          <p:cNvSpPr/>
          <p:nvPr/>
        </p:nvSpPr>
        <p:spPr>
          <a:xfrm>
            <a:off x="4709160" y="2148840"/>
            <a:ext cx="4023360" cy="384048"/>
          </a:xfrm>
          <a:prstGeom prst="rect">
            <a:avLst/>
          </a:prstGeom>
          <a:solidFill>
            <a:srgbClr val="0A1E14"/>
          </a:solidFill>
          <a:ln w="12700">
            <a:solidFill>
              <a:srgbClr val="1A3D28"/>
            </a:solidFill>
            <a:prstDash val="solid"/>
          </a:ln>
        </p:spPr>
      </p:sp>
      <p:sp>
        <p:nvSpPr>
          <p:cNvPr id="41" name="Text 39"/>
          <p:cNvSpPr/>
          <p:nvPr/>
        </p:nvSpPr>
        <p:spPr>
          <a:xfrm>
            <a:off x="4846320" y="2148840"/>
            <a:ext cx="3840480" cy="384048"/>
          </a:xfrm>
          <a:prstGeom prst="rect">
            <a:avLst/>
          </a:prstGeom>
          <a:noFill/>
          <a:ln/>
        </p:spPr>
        <p:txBody>
          <a:bodyPr wrap="square" lIns="0" tIns="0" rIns="0" bIns="0" rtlCol="0" anchor="ctr"/>
          <a:lstStyle/>
          <a:p>
            <a:pPr indent="0" marL="0">
              <a:buNone/>
            </a:pPr>
            <a:r>
              <a:rPr lang="en-US" sz="1100" dirty="0">
                <a:solidFill>
                  <a:srgbClr val="00FF88"/>
                </a:solidFill>
                <a:latin typeface="Calibri" pitchFamily="34" charset="0"/>
                <a:ea typeface="Calibri" pitchFamily="34" charset="-122"/>
                <a:cs typeface="Calibri" pitchFamily="34" charset="-120"/>
              </a:rPr>
              <a:t>✓  ~2 minutes</a:t>
            </a:r>
            <a:endParaRPr lang="en-US" sz="1100" dirty="0"/>
          </a:p>
        </p:txBody>
      </p:sp>
      <p:sp>
        <p:nvSpPr>
          <p:cNvPr id="42" name="Shape 40"/>
          <p:cNvSpPr/>
          <p:nvPr/>
        </p:nvSpPr>
        <p:spPr>
          <a:xfrm>
            <a:off x="411480" y="2624328"/>
            <a:ext cx="8321040" cy="274320"/>
          </a:xfrm>
          <a:prstGeom prst="rect">
            <a:avLst/>
          </a:prstGeom>
          <a:solidFill>
            <a:srgbClr val="0A1520"/>
          </a:solidFill>
          <a:ln w="12700">
            <a:solidFill>
              <a:srgbClr val="1E2D3D"/>
            </a:solidFill>
            <a:prstDash val="solid"/>
          </a:ln>
        </p:spPr>
      </p:sp>
      <p:sp>
        <p:nvSpPr>
          <p:cNvPr id="43" name="Text 41"/>
          <p:cNvSpPr/>
          <p:nvPr/>
        </p:nvSpPr>
        <p:spPr>
          <a:xfrm>
            <a:off x="502920" y="2624328"/>
            <a:ext cx="8138160" cy="274320"/>
          </a:xfrm>
          <a:prstGeom prst="rect">
            <a:avLst/>
          </a:prstGeom>
          <a:noFill/>
          <a:ln/>
        </p:spPr>
        <p:txBody>
          <a:bodyPr wrap="square" lIns="0" tIns="0" rIns="0" bIns="0" rtlCol="0" anchor="ctr"/>
          <a:lstStyle/>
          <a:p>
            <a:pPr indent="0" marL="0">
              <a:buNone/>
            </a:pPr>
            <a:r>
              <a:rPr lang="en-US" sz="1000" dirty="0">
                <a:solidFill>
                  <a:srgbClr val="00D4FF"/>
                </a:solidFill>
                <a:latin typeface="Courier New" pitchFamily="34" charset="0"/>
                <a:ea typeface="Courier New" pitchFamily="34" charset="-122"/>
                <a:cs typeface="Courier New" pitchFamily="34" charset="-120"/>
              </a:rPr>
              <a:t>▸  Debug a JavaScript error</a:t>
            </a:r>
            <a:endParaRPr lang="en-US" sz="1000" dirty="0"/>
          </a:p>
        </p:txBody>
      </p:sp>
      <p:sp>
        <p:nvSpPr>
          <p:cNvPr id="44" name="Shape 42"/>
          <p:cNvSpPr/>
          <p:nvPr/>
        </p:nvSpPr>
        <p:spPr>
          <a:xfrm>
            <a:off x="411480" y="2898648"/>
            <a:ext cx="4023360" cy="384048"/>
          </a:xfrm>
          <a:prstGeom prst="rect">
            <a:avLst/>
          </a:prstGeom>
          <a:solidFill>
            <a:srgbClr val="111820"/>
          </a:solidFill>
          <a:ln w="12700">
            <a:solidFill>
              <a:srgbClr val="1E2D3D"/>
            </a:solidFill>
            <a:prstDash val="solid"/>
          </a:ln>
        </p:spPr>
      </p:sp>
      <p:sp>
        <p:nvSpPr>
          <p:cNvPr id="45" name="Text 43"/>
          <p:cNvSpPr/>
          <p:nvPr/>
        </p:nvSpPr>
        <p:spPr>
          <a:xfrm>
            <a:off x="548640" y="2898648"/>
            <a:ext cx="3840480" cy="384048"/>
          </a:xfrm>
          <a:prstGeom prst="rect">
            <a:avLst/>
          </a:prstGeom>
          <a:noFill/>
          <a:ln/>
        </p:spPr>
        <p:txBody>
          <a:bodyPr wrap="square" lIns="0" tIns="0" rIns="0" bIns="0" rtlCol="0" anchor="ctr"/>
          <a:lstStyle/>
          <a:p>
            <a:pPr indent="0" marL="0">
              <a:buNone/>
            </a:pPr>
            <a:r>
              <a:rPr lang="en-US" sz="1100" dirty="0">
                <a:solidFill>
                  <a:srgbClr val="506070"/>
                </a:solidFill>
                <a:latin typeface="Calibri" pitchFamily="34" charset="0"/>
                <a:ea typeface="Calibri" pitchFamily="34" charset="-122"/>
                <a:cs typeface="Calibri" pitchFamily="34" charset="-120"/>
              </a:rPr>
              <a:t>✗  30–60 min of searching</a:t>
            </a:r>
            <a:endParaRPr lang="en-US" sz="1100" dirty="0"/>
          </a:p>
        </p:txBody>
      </p:sp>
      <p:sp>
        <p:nvSpPr>
          <p:cNvPr id="46" name="Shape 44"/>
          <p:cNvSpPr/>
          <p:nvPr/>
        </p:nvSpPr>
        <p:spPr>
          <a:xfrm>
            <a:off x="4709160" y="2898648"/>
            <a:ext cx="4023360" cy="384048"/>
          </a:xfrm>
          <a:prstGeom prst="rect">
            <a:avLst/>
          </a:prstGeom>
          <a:solidFill>
            <a:srgbClr val="0A1E14"/>
          </a:solidFill>
          <a:ln w="12700">
            <a:solidFill>
              <a:srgbClr val="1A3D28"/>
            </a:solidFill>
            <a:prstDash val="solid"/>
          </a:ln>
        </p:spPr>
      </p:sp>
      <p:sp>
        <p:nvSpPr>
          <p:cNvPr id="47" name="Text 45"/>
          <p:cNvSpPr/>
          <p:nvPr/>
        </p:nvSpPr>
        <p:spPr>
          <a:xfrm>
            <a:off x="4846320" y="2898648"/>
            <a:ext cx="3840480" cy="384048"/>
          </a:xfrm>
          <a:prstGeom prst="rect">
            <a:avLst/>
          </a:prstGeom>
          <a:noFill/>
          <a:ln/>
        </p:spPr>
        <p:txBody>
          <a:bodyPr wrap="square" lIns="0" tIns="0" rIns="0" bIns="0" rtlCol="0" anchor="ctr"/>
          <a:lstStyle/>
          <a:p>
            <a:pPr indent="0" marL="0">
              <a:buNone/>
            </a:pPr>
            <a:r>
              <a:rPr lang="en-US" sz="1100" dirty="0">
                <a:solidFill>
                  <a:srgbClr val="00FF88"/>
                </a:solidFill>
                <a:latin typeface="Calibri" pitchFamily="34" charset="0"/>
                <a:ea typeface="Calibri" pitchFamily="34" charset="-122"/>
                <a:cs typeface="Calibri" pitchFamily="34" charset="-120"/>
              </a:rPr>
              <a:t>✓  Paste error → instant explanation</a:t>
            </a:r>
            <a:endParaRPr lang="en-US" sz="1100" dirty="0"/>
          </a:p>
        </p:txBody>
      </p:sp>
      <p:sp>
        <p:nvSpPr>
          <p:cNvPr id="48" name="Shape 46"/>
          <p:cNvSpPr/>
          <p:nvPr/>
        </p:nvSpPr>
        <p:spPr>
          <a:xfrm>
            <a:off x="411480" y="3374136"/>
            <a:ext cx="8321040" cy="274320"/>
          </a:xfrm>
          <a:prstGeom prst="rect">
            <a:avLst/>
          </a:prstGeom>
          <a:solidFill>
            <a:srgbClr val="0A1520"/>
          </a:solidFill>
          <a:ln w="12700">
            <a:solidFill>
              <a:srgbClr val="1E2D3D"/>
            </a:solidFill>
            <a:prstDash val="solid"/>
          </a:ln>
        </p:spPr>
      </p:sp>
      <p:sp>
        <p:nvSpPr>
          <p:cNvPr id="49" name="Text 47"/>
          <p:cNvSpPr/>
          <p:nvPr/>
        </p:nvSpPr>
        <p:spPr>
          <a:xfrm>
            <a:off x="502920" y="3374136"/>
            <a:ext cx="8138160" cy="274320"/>
          </a:xfrm>
          <a:prstGeom prst="rect">
            <a:avLst/>
          </a:prstGeom>
          <a:noFill/>
          <a:ln/>
        </p:spPr>
        <p:txBody>
          <a:bodyPr wrap="square" lIns="0" tIns="0" rIns="0" bIns="0" rtlCol="0" anchor="ctr"/>
          <a:lstStyle/>
          <a:p>
            <a:pPr indent="0" marL="0">
              <a:buNone/>
            </a:pPr>
            <a:r>
              <a:rPr lang="en-US" sz="1000" dirty="0">
                <a:solidFill>
                  <a:srgbClr val="00D4FF"/>
                </a:solidFill>
                <a:latin typeface="Courier New" pitchFamily="34" charset="0"/>
                <a:ea typeface="Courier New" pitchFamily="34" charset="-122"/>
                <a:cs typeface="Courier New" pitchFamily="34" charset="-120"/>
              </a:rPr>
              <a:t>▸  Build a responsive landing page</a:t>
            </a:r>
            <a:endParaRPr lang="en-US" sz="1000" dirty="0"/>
          </a:p>
        </p:txBody>
      </p:sp>
      <p:sp>
        <p:nvSpPr>
          <p:cNvPr id="50" name="Shape 48"/>
          <p:cNvSpPr/>
          <p:nvPr/>
        </p:nvSpPr>
        <p:spPr>
          <a:xfrm>
            <a:off x="411480" y="3648456"/>
            <a:ext cx="4023360" cy="384048"/>
          </a:xfrm>
          <a:prstGeom prst="rect">
            <a:avLst/>
          </a:prstGeom>
          <a:solidFill>
            <a:srgbClr val="111820"/>
          </a:solidFill>
          <a:ln w="12700">
            <a:solidFill>
              <a:srgbClr val="1E2D3D"/>
            </a:solidFill>
            <a:prstDash val="solid"/>
          </a:ln>
        </p:spPr>
      </p:sp>
      <p:sp>
        <p:nvSpPr>
          <p:cNvPr id="51" name="Text 49"/>
          <p:cNvSpPr/>
          <p:nvPr/>
        </p:nvSpPr>
        <p:spPr>
          <a:xfrm>
            <a:off x="548640" y="3648456"/>
            <a:ext cx="3840480" cy="384048"/>
          </a:xfrm>
          <a:prstGeom prst="rect">
            <a:avLst/>
          </a:prstGeom>
          <a:noFill/>
          <a:ln/>
        </p:spPr>
        <p:txBody>
          <a:bodyPr wrap="square" lIns="0" tIns="0" rIns="0" bIns="0" rtlCol="0" anchor="ctr"/>
          <a:lstStyle/>
          <a:p>
            <a:pPr indent="0" marL="0">
              <a:buNone/>
            </a:pPr>
            <a:r>
              <a:rPr lang="en-US" sz="1100" dirty="0">
                <a:solidFill>
                  <a:srgbClr val="506070"/>
                </a:solidFill>
                <a:latin typeface="Calibri" pitchFamily="34" charset="0"/>
                <a:ea typeface="Calibri" pitchFamily="34" charset="-122"/>
                <a:cs typeface="Calibri" pitchFamily="34" charset="-120"/>
              </a:rPr>
              <a:t>✗  1–2 days</a:t>
            </a:r>
            <a:endParaRPr lang="en-US" sz="1100" dirty="0"/>
          </a:p>
        </p:txBody>
      </p:sp>
      <p:sp>
        <p:nvSpPr>
          <p:cNvPr id="52" name="Shape 50"/>
          <p:cNvSpPr/>
          <p:nvPr/>
        </p:nvSpPr>
        <p:spPr>
          <a:xfrm>
            <a:off x="4709160" y="3648456"/>
            <a:ext cx="4023360" cy="384048"/>
          </a:xfrm>
          <a:prstGeom prst="rect">
            <a:avLst/>
          </a:prstGeom>
          <a:solidFill>
            <a:srgbClr val="0A1E14"/>
          </a:solidFill>
          <a:ln w="12700">
            <a:solidFill>
              <a:srgbClr val="1A3D28"/>
            </a:solidFill>
            <a:prstDash val="solid"/>
          </a:ln>
        </p:spPr>
      </p:sp>
      <p:sp>
        <p:nvSpPr>
          <p:cNvPr id="53" name="Text 51"/>
          <p:cNvSpPr/>
          <p:nvPr/>
        </p:nvSpPr>
        <p:spPr>
          <a:xfrm>
            <a:off x="4846320" y="3648456"/>
            <a:ext cx="3840480" cy="384048"/>
          </a:xfrm>
          <a:prstGeom prst="rect">
            <a:avLst/>
          </a:prstGeom>
          <a:noFill/>
          <a:ln/>
        </p:spPr>
        <p:txBody>
          <a:bodyPr wrap="square" lIns="0" tIns="0" rIns="0" bIns="0" rtlCol="0" anchor="ctr"/>
          <a:lstStyle/>
          <a:p>
            <a:pPr indent="0" marL="0">
              <a:buNone/>
            </a:pPr>
            <a:r>
              <a:rPr lang="en-US" sz="1100" dirty="0">
                <a:solidFill>
                  <a:srgbClr val="00FF88"/>
                </a:solidFill>
                <a:latin typeface="Calibri" pitchFamily="34" charset="0"/>
                <a:ea typeface="Calibri" pitchFamily="34" charset="-122"/>
                <a:cs typeface="Calibri" pitchFamily="34" charset="-120"/>
              </a:rPr>
              <a:t>✓  30–60 minutes with AI assistance</a:t>
            </a:r>
            <a:endParaRPr lang="en-US" sz="1100" dirty="0"/>
          </a:p>
        </p:txBody>
      </p:sp>
      <p:sp>
        <p:nvSpPr>
          <p:cNvPr id="54" name="Shape 52"/>
          <p:cNvSpPr/>
          <p:nvPr/>
        </p:nvSpPr>
        <p:spPr>
          <a:xfrm>
            <a:off x="411480" y="4123944"/>
            <a:ext cx="8321040" cy="274320"/>
          </a:xfrm>
          <a:prstGeom prst="rect">
            <a:avLst/>
          </a:prstGeom>
          <a:solidFill>
            <a:srgbClr val="0A1520"/>
          </a:solidFill>
          <a:ln w="12700">
            <a:solidFill>
              <a:srgbClr val="1E2D3D"/>
            </a:solidFill>
            <a:prstDash val="solid"/>
          </a:ln>
        </p:spPr>
      </p:sp>
      <p:sp>
        <p:nvSpPr>
          <p:cNvPr id="55" name="Text 53"/>
          <p:cNvSpPr/>
          <p:nvPr/>
        </p:nvSpPr>
        <p:spPr>
          <a:xfrm>
            <a:off x="502920" y="4123944"/>
            <a:ext cx="8138160" cy="274320"/>
          </a:xfrm>
          <a:prstGeom prst="rect">
            <a:avLst/>
          </a:prstGeom>
          <a:noFill/>
          <a:ln/>
        </p:spPr>
        <p:txBody>
          <a:bodyPr wrap="square" lIns="0" tIns="0" rIns="0" bIns="0" rtlCol="0" anchor="ctr"/>
          <a:lstStyle/>
          <a:p>
            <a:pPr indent="0" marL="0">
              <a:buNone/>
            </a:pPr>
            <a:r>
              <a:rPr lang="en-US" sz="1000" dirty="0">
                <a:solidFill>
                  <a:srgbClr val="00D4FF"/>
                </a:solidFill>
                <a:latin typeface="Courier New" pitchFamily="34" charset="0"/>
                <a:ea typeface="Courier New" pitchFamily="34" charset="-122"/>
                <a:cs typeface="Courier New" pitchFamily="34" charset="-120"/>
              </a:rPr>
              <a:t>▸  Write unit tests</a:t>
            </a:r>
            <a:endParaRPr lang="en-US" sz="1000" dirty="0"/>
          </a:p>
        </p:txBody>
      </p:sp>
      <p:sp>
        <p:nvSpPr>
          <p:cNvPr id="56" name="Shape 54"/>
          <p:cNvSpPr/>
          <p:nvPr/>
        </p:nvSpPr>
        <p:spPr>
          <a:xfrm>
            <a:off x="411480" y="4398264"/>
            <a:ext cx="4023360" cy="384048"/>
          </a:xfrm>
          <a:prstGeom prst="rect">
            <a:avLst/>
          </a:prstGeom>
          <a:solidFill>
            <a:srgbClr val="111820"/>
          </a:solidFill>
          <a:ln w="12700">
            <a:solidFill>
              <a:srgbClr val="1E2D3D"/>
            </a:solidFill>
            <a:prstDash val="solid"/>
          </a:ln>
        </p:spPr>
      </p:sp>
      <p:sp>
        <p:nvSpPr>
          <p:cNvPr id="57" name="Text 55"/>
          <p:cNvSpPr/>
          <p:nvPr/>
        </p:nvSpPr>
        <p:spPr>
          <a:xfrm>
            <a:off x="548640" y="4398264"/>
            <a:ext cx="3840480" cy="384048"/>
          </a:xfrm>
          <a:prstGeom prst="rect">
            <a:avLst/>
          </a:prstGeom>
          <a:noFill/>
          <a:ln/>
        </p:spPr>
        <p:txBody>
          <a:bodyPr wrap="square" lIns="0" tIns="0" rIns="0" bIns="0" rtlCol="0" anchor="ctr"/>
          <a:lstStyle/>
          <a:p>
            <a:pPr indent="0" marL="0">
              <a:buNone/>
            </a:pPr>
            <a:r>
              <a:rPr lang="en-US" sz="1100" dirty="0">
                <a:solidFill>
                  <a:srgbClr val="506070"/>
                </a:solidFill>
                <a:latin typeface="Calibri" pitchFamily="34" charset="0"/>
                <a:ea typeface="Calibri" pitchFamily="34" charset="-122"/>
                <a:cs typeface="Calibri" pitchFamily="34" charset="-120"/>
              </a:rPr>
              <a:t>✗  Often skipped (boring + slow)</a:t>
            </a:r>
            <a:endParaRPr lang="en-US" sz="1100" dirty="0"/>
          </a:p>
        </p:txBody>
      </p:sp>
      <p:sp>
        <p:nvSpPr>
          <p:cNvPr id="58" name="Shape 56"/>
          <p:cNvSpPr/>
          <p:nvPr/>
        </p:nvSpPr>
        <p:spPr>
          <a:xfrm>
            <a:off x="4709160" y="4398264"/>
            <a:ext cx="4023360" cy="384048"/>
          </a:xfrm>
          <a:prstGeom prst="rect">
            <a:avLst/>
          </a:prstGeom>
          <a:solidFill>
            <a:srgbClr val="0A1E14"/>
          </a:solidFill>
          <a:ln w="12700">
            <a:solidFill>
              <a:srgbClr val="1A3D28"/>
            </a:solidFill>
            <a:prstDash val="solid"/>
          </a:ln>
        </p:spPr>
      </p:sp>
      <p:sp>
        <p:nvSpPr>
          <p:cNvPr id="59" name="Text 57"/>
          <p:cNvSpPr/>
          <p:nvPr/>
        </p:nvSpPr>
        <p:spPr>
          <a:xfrm>
            <a:off x="4846320" y="4398264"/>
            <a:ext cx="3840480" cy="384048"/>
          </a:xfrm>
          <a:prstGeom prst="rect">
            <a:avLst/>
          </a:prstGeom>
          <a:noFill/>
          <a:ln/>
        </p:spPr>
        <p:txBody>
          <a:bodyPr wrap="square" lIns="0" tIns="0" rIns="0" bIns="0" rtlCol="0" anchor="ctr"/>
          <a:lstStyle/>
          <a:p>
            <a:pPr indent="0" marL="0">
              <a:buNone/>
            </a:pPr>
            <a:r>
              <a:rPr lang="en-US" sz="1100" dirty="0">
                <a:solidFill>
                  <a:srgbClr val="00FF88"/>
                </a:solidFill>
                <a:latin typeface="Calibri" pitchFamily="34" charset="0"/>
                <a:ea typeface="Calibri" pitchFamily="34" charset="-122"/>
                <a:cs typeface="Calibri" pitchFamily="34" charset="-120"/>
              </a:rPr>
              <a:t>✓  Generated automatically from code</a:t>
            </a:r>
            <a:endParaRPr lang="en-US" sz="1100" dirty="0"/>
          </a:p>
        </p:txBody>
      </p:sp>
      <p:sp>
        <p:nvSpPr>
          <p:cNvPr id="60" name="Shape 58"/>
          <p:cNvSpPr/>
          <p:nvPr/>
        </p:nvSpPr>
        <p:spPr>
          <a:xfrm>
            <a:off x="411480" y="4736592"/>
            <a:ext cx="8321040" cy="301752"/>
          </a:xfrm>
          <a:prstGeom prst="rect">
            <a:avLst/>
          </a:prstGeom>
          <a:solidFill>
            <a:srgbClr val="0A1520"/>
          </a:solidFill>
          <a:ln w="12700">
            <a:solidFill>
              <a:srgbClr val="00D4FF"/>
            </a:solidFill>
            <a:prstDash val="solid"/>
          </a:ln>
        </p:spPr>
      </p:sp>
      <p:sp>
        <p:nvSpPr>
          <p:cNvPr id="61" name="Text 59"/>
          <p:cNvSpPr/>
          <p:nvPr/>
        </p:nvSpPr>
        <p:spPr>
          <a:xfrm>
            <a:off x="548640" y="4736592"/>
            <a:ext cx="8138160" cy="301752"/>
          </a:xfrm>
          <a:prstGeom prst="rect">
            <a:avLst/>
          </a:prstGeom>
          <a:noFill/>
          <a:ln/>
        </p:spPr>
        <p:txBody>
          <a:bodyPr wrap="square" lIns="0" tIns="0" rIns="0" bIns="0" rtlCol="0" anchor="ctr"/>
          <a:lstStyle/>
          <a:p>
            <a:pPr indent="0" marL="0">
              <a:buNone/>
            </a:pPr>
            <a:r>
              <a:rPr lang="en-US" sz="1050" i="1" dirty="0">
                <a:solidFill>
                  <a:srgbClr val="00D4FF"/>
                </a:solidFill>
                <a:latin typeface="Calibri" pitchFamily="34" charset="0"/>
                <a:ea typeface="Calibri" pitchFamily="34" charset="-122"/>
                <a:cs typeface="Calibri" pitchFamily="34" charset="-120"/>
              </a:rPr>
              <a:t>💡  AI doesn't write perfect code — but it dramatically reduces the time from idea to working prototype.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90F"/>
        </a:solidFill>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6350">
            <a:solidFill>
              <a:srgbClr val="121C28"/>
            </a:solidFill>
            <a:prstDash val="solid"/>
          </a:ln>
        </p:spPr>
      </p:sp>
      <p:sp>
        <p:nvSpPr>
          <p:cNvPr id="3" name="Shape 1"/>
          <p:cNvSpPr/>
          <p:nvPr/>
        </p:nvSpPr>
        <p:spPr>
          <a:xfrm>
            <a:off x="0" y="594360"/>
            <a:ext cx="9144000" cy="0"/>
          </a:xfrm>
          <a:prstGeom prst="line">
            <a:avLst/>
          </a:prstGeom>
          <a:noFill/>
          <a:ln w="6350">
            <a:solidFill>
              <a:srgbClr val="121C28"/>
            </a:solidFill>
            <a:prstDash val="solid"/>
          </a:ln>
        </p:spPr>
      </p:sp>
      <p:sp>
        <p:nvSpPr>
          <p:cNvPr id="4" name="Shape 2"/>
          <p:cNvSpPr/>
          <p:nvPr/>
        </p:nvSpPr>
        <p:spPr>
          <a:xfrm>
            <a:off x="0" y="1188720"/>
            <a:ext cx="9144000" cy="0"/>
          </a:xfrm>
          <a:prstGeom prst="line">
            <a:avLst/>
          </a:prstGeom>
          <a:noFill/>
          <a:ln w="6350">
            <a:solidFill>
              <a:srgbClr val="121C28"/>
            </a:solidFill>
            <a:prstDash val="solid"/>
          </a:ln>
        </p:spPr>
      </p:sp>
      <p:sp>
        <p:nvSpPr>
          <p:cNvPr id="5" name="Shape 3"/>
          <p:cNvSpPr/>
          <p:nvPr/>
        </p:nvSpPr>
        <p:spPr>
          <a:xfrm>
            <a:off x="0" y="1783080"/>
            <a:ext cx="9144000" cy="0"/>
          </a:xfrm>
          <a:prstGeom prst="line">
            <a:avLst/>
          </a:prstGeom>
          <a:noFill/>
          <a:ln w="6350">
            <a:solidFill>
              <a:srgbClr val="121C28"/>
            </a:solidFill>
            <a:prstDash val="solid"/>
          </a:ln>
        </p:spPr>
      </p:sp>
      <p:sp>
        <p:nvSpPr>
          <p:cNvPr id="6" name="Shape 4"/>
          <p:cNvSpPr/>
          <p:nvPr/>
        </p:nvSpPr>
        <p:spPr>
          <a:xfrm>
            <a:off x="0" y="2377440"/>
            <a:ext cx="9144000" cy="0"/>
          </a:xfrm>
          <a:prstGeom prst="line">
            <a:avLst/>
          </a:prstGeom>
          <a:noFill/>
          <a:ln w="6350">
            <a:solidFill>
              <a:srgbClr val="121C28"/>
            </a:solidFill>
            <a:prstDash val="solid"/>
          </a:ln>
        </p:spPr>
      </p:sp>
      <p:sp>
        <p:nvSpPr>
          <p:cNvPr id="7" name="Shape 5"/>
          <p:cNvSpPr/>
          <p:nvPr/>
        </p:nvSpPr>
        <p:spPr>
          <a:xfrm>
            <a:off x="0" y="2971800"/>
            <a:ext cx="9144000" cy="0"/>
          </a:xfrm>
          <a:prstGeom prst="line">
            <a:avLst/>
          </a:prstGeom>
          <a:noFill/>
          <a:ln w="6350">
            <a:solidFill>
              <a:srgbClr val="121C28"/>
            </a:solidFill>
            <a:prstDash val="solid"/>
          </a:ln>
        </p:spPr>
      </p:sp>
      <p:sp>
        <p:nvSpPr>
          <p:cNvPr id="8" name="Shape 6"/>
          <p:cNvSpPr/>
          <p:nvPr/>
        </p:nvSpPr>
        <p:spPr>
          <a:xfrm>
            <a:off x="0" y="3566160"/>
            <a:ext cx="9144000" cy="0"/>
          </a:xfrm>
          <a:prstGeom prst="line">
            <a:avLst/>
          </a:prstGeom>
          <a:noFill/>
          <a:ln w="6350">
            <a:solidFill>
              <a:srgbClr val="121C28"/>
            </a:solidFill>
            <a:prstDash val="solid"/>
          </a:ln>
        </p:spPr>
      </p:sp>
      <p:sp>
        <p:nvSpPr>
          <p:cNvPr id="9" name="Shape 7"/>
          <p:cNvSpPr/>
          <p:nvPr/>
        </p:nvSpPr>
        <p:spPr>
          <a:xfrm>
            <a:off x="0" y="4160520"/>
            <a:ext cx="9144000" cy="0"/>
          </a:xfrm>
          <a:prstGeom prst="line">
            <a:avLst/>
          </a:prstGeom>
          <a:noFill/>
          <a:ln w="6350">
            <a:solidFill>
              <a:srgbClr val="121C28"/>
            </a:solidFill>
            <a:prstDash val="solid"/>
          </a:ln>
        </p:spPr>
      </p:sp>
      <p:sp>
        <p:nvSpPr>
          <p:cNvPr id="10" name="Shape 8"/>
          <p:cNvSpPr/>
          <p:nvPr/>
        </p:nvSpPr>
        <p:spPr>
          <a:xfrm>
            <a:off x="0" y="4754880"/>
            <a:ext cx="9144000" cy="0"/>
          </a:xfrm>
          <a:prstGeom prst="line">
            <a:avLst/>
          </a:prstGeom>
          <a:noFill/>
          <a:ln w="6350">
            <a:solidFill>
              <a:srgbClr val="121C28"/>
            </a:solidFill>
            <a:prstDash val="solid"/>
          </a:ln>
        </p:spPr>
      </p:sp>
      <p:sp>
        <p:nvSpPr>
          <p:cNvPr id="11" name="Shape 9"/>
          <p:cNvSpPr/>
          <p:nvPr/>
        </p:nvSpPr>
        <p:spPr>
          <a:xfrm>
            <a:off x="0" y="0"/>
            <a:ext cx="0" cy="5143500"/>
          </a:xfrm>
          <a:prstGeom prst="line">
            <a:avLst/>
          </a:prstGeom>
          <a:noFill/>
          <a:ln w="6350">
            <a:solidFill>
              <a:srgbClr val="121C28"/>
            </a:solidFill>
            <a:prstDash val="solid"/>
          </a:ln>
        </p:spPr>
      </p:sp>
      <p:sp>
        <p:nvSpPr>
          <p:cNvPr id="12" name="Shape 10"/>
          <p:cNvSpPr/>
          <p:nvPr/>
        </p:nvSpPr>
        <p:spPr>
          <a:xfrm>
            <a:off x="594360" y="0"/>
            <a:ext cx="0" cy="5143500"/>
          </a:xfrm>
          <a:prstGeom prst="line">
            <a:avLst/>
          </a:prstGeom>
          <a:noFill/>
          <a:ln w="6350">
            <a:solidFill>
              <a:srgbClr val="121C28"/>
            </a:solidFill>
            <a:prstDash val="solid"/>
          </a:ln>
        </p:spPr>
      </p:sp>
      <p:sp>
        <p:nvSpPr>
          <p:cNvPr id="13" name="Shape 11"/>
          <p:cNvSpPr/>
          <p:nvPr/>
        </p:nvSpPr>
        <p:spPr>
          <a:xfrm>
            <a:off x="1188720" y="0"/>
            <a:ext cx="0" cy="5143500"/>
          </a:xfrm>
          <a:prstGeom prst="line">
            <a:avLst/>
          </a:prstGeom>
          <a:noFill/>
          <a:ln w="6350">
            <a:solidFill>
              <a:srgbClr val="121C28"/>
            </a:solidFill>
            <a:prstDash val="solid"/>
          </a:ln>
        </p:spPr>
      </p:sp>
      <p:sp>
        <p:nvSpPr>
          <p:cNvPr id="14" name="Shape 12"/>
          <p:cNvSpPr/>
          <p:nvPr/>
        </p:nvSpPr>
        <p:spPr>
          <a:xfrm>
            <a:off x="1783080" y="0"/>
            <a:ext cx="0" cy="5143500"/>
          </a:xfrm>
          <a:prstGeom prst="line">
            <a:avLst/>
          </a:prstGeom>
          <a:noFill/>
          <a:ln w="6350">
            <a:solidFill>
              <a:srgbClr val="121C28"/>
            </a:solidFill>
            <a:prstDash val="solid"/>
          </a:ln>
        </p:spPr>
      </p:sp>
      <p:sp>
        <p:nvSpPr>
          <p:cNvPr id="15" name="Shape 13"/>
          <p:cNvSpPr/>
          <p:nvPr/>
        </p:nvSpPr>
        <p:spPr>
          <a:xfrm>
            <a:off x="2377440" y="0"/>
            <a:ext cx="0" cy="5143500"/>
          </a:xfrm>
          <a:prstGeom prst="line">
            <a:avLst/>
          </a:prstGeom>
          <a:noFill/>
          <a:ln w="6350">
            <a:solidFill>
              <a:srgbClr val="121C28"/>
            </a:solidFill>
            <a:prstDash val="solid"/>
          </a:ln>
        </p:spPr>
      </p:sp>
      <p:sp>
        <p:nvSpPr>
          <p:cNvPr id="16" name="Shape 14"/>
          <p:cNvSpPr/>
          <p:nvPr/>
        </p:nvSpPr>
        <p:spPr>
          <a:xfrm>
            <a:off x="2971800" y="0"/>
            <a:ext cx="0" cy="5143500"/>
          </a:xfrm>
          <a:prstGeom prst="line">
            <a:avLst/>
          </a:prstGeom>
          <a:noFill/>
          <a:ln w="6350">
            <a:solidFill>
              <a:srgbClr val="121C28"/>
            </a:solidFill>
            <a:prstDash val="solid"/>
          </a:ln>
        </p:spPr>
      </p:sp>
      <p:sp>
        <p:nvSpPr>
          <p:cNvPr id="17" name="Shape 15"/>
          <p:cNvSpPr/>
          <p:nvPr/>
        </p:nvSpPr>
        <p:spPr>
          <a:xfrm>
            <a:off x="3566160" y="0"/>
            <a:ext cx="0" cy="5143500"/>
          </a:xfrm>
          <a:prstGeom prst="line">
            <a:avLst/>
          </a:prstGeom>
          <a:noFill/>
          <a:ln w="6350">
            <a:solidFill>
              <a:srgbClr val="121C28"/>
            </a:solidFill>
            <a:prstDash val="solid"/>
          </a:ln>
        </p:spPr>
      </p:sp>
      <p:sp>
        <p:nvSpPr>
          <p:cNvPr id="18" name="Shape 16"/>
          <p:cNvSpPr/>
          <p:nvPr/>
        </p:nvSpPr>
        <p:spPr>
          <a:xfrm>
            <a:off x="4160520" y="0"/>
            <a:ext cx="0" cy="5143500"/>
          </a:xfrm>
          <a:prstGeom prst="line">
            <a:avLst/>
          </a:prstGeom>
          <a:noFill/>
          <a:ln w="6350">
            <a:solidFill>
              <a:srgbClr val="121C28"/>
            </a:solidFill>
            <a:prstDash val="solid"/>
          </a:ln>
        </p:spPr>
      </p:sp>
      <p:sp>
        <p:nvSpPr>
          <p:cNvPr id="19" name="Shape 17"/>
          <p:cNvSpPr/>
          <p:nvPr/>
        </p:nvSpPr>
        <p:spPr>
          <a:xfrm>
            <a:off x="4754880" y="0"/>
            <a:ext cx="0" cy="5143500"/>
          </a:xfrm>
          <a:prstGeom prst="line">
            <a:avLst/>
          </a:prstGeom>
          <a:noFill/>
          <a:ln w="6350">
            <a:solidFill>
              <a:srgbClr val="121C28"/>
            </a:solidFill>
            <a:prstDash val="solid"/>
          </a:ln>
        </p:spPr>
      </p:sp>
      <p:sp>
        <p:nvSpPr>
          <p:cNvPr id="20" name="Shape 18"/>
          <p:cNvSpPr/>
          <p:nvPr/>
        </p:nvSpPr>
        <p:spPr>
          <a:xfrm>
            <a:off x="5349240" y="0"/>
            <a:ext cx="0" cy="5143500"/>
          </a:xfrm>
          <a:prstGeom prst="line">
            <a:avLst/>
          </a:prstGeom>
          <a:noFill/>
          <a:ln w="6350">
            <a:solidFill>
              <a:srgbClr val="121C28"/>
            </a:solidFill>
            <a:prstDash val="solid"/>
          </a:ln>
        </p:spPr>
      </p:sp>
      <p:sp>
        <p:nvSpPr>
          <p:cNvPr id="21" name="Shape 19"/>
          <p:cNvSpPr/>
          <p:nvPr/>
        </p:nvSpPr>
        <p:spPr>
          <a:xfrm>
            <a:off x="5943600" y="0"/>
            <a:ext cx="0" cy="5143500"/>
          </a:xfrm>
          <a:prstGeom prst="line">
            <a:avLst/>
          </a:prstGeom>
          <a:noFill/>
          <a:ln w="6350">
            <a:solidFill>
              <a:srgbClr val="121C28"/>
            </a:solidFill>
            <a:prstDash val="solid"/>
          </a:ln>
        </p:spPr>
      </p:sp>
      <p:sp>
        <p:nvSpPr>
          <p:cNvPr id="22" name="Shape 20"/>
          <p:cNvSpPr/>
          <p:nvPr/>
        </p:nvSpPr>
        <p:spPr>
          <a:xfrm>
            <a:off x="6537960" y="0"/>
            <a:ext cx="0" cy="5143500"/>
          </a:xfrm>
          <a:prstGeom prst="line">
            <a:avLst/>
          </a:prstGeom>
          <a:noFill/>
          <a:ln w="6350">
            <a:solidFill>
              <a:srgbClr val="121C28"/>
            </a:solidFill>
            <a:prstDash val="solid"/>
          </a:ln>
        </p:spPr>
      </p:sp>
      <p:sp>
        <p:nvSpPr>
          <p:cNvPr id="23" name="Shape 21"/>
          <p:cNvSpPr/>
          <p:nvPr/>
        </p:nvSpPr>
        <p:spPr>
          <a:xfrm>
            <a:off x="7132320" y="0"/>
            <a:ext cx="0" cy="5143500"/>
          </a:xfrm>
          <a:prstGeom prst="line">
            <a:avLst/>
          </a:prstGeom>
          <a:noFill/>
          <a:ln w="6350">
            <a:solidFill>
              <a:srgbClr val="121C28"/>
            </a:solidFill>
            <a:prstDash val="solid"/>
          </a:ln>
        </p:spPr>
      </p:sp>
      <p:sp>
        <p:nvSpPr>
          <p:cNvPr id="24" name="Shape 22"/>
          <p:cNvSpPr/>
          <p:nvPr/>
        </p:nvSpPr>
        <p:spPr>
          <a:xfrm>
            <a:off x="7726680" y="0"/>
            <a:ext cx="0" cy="5143500"/>
          </a:xfrm>
          <a:prstGeom prst="line">
            <a:avLst/>
          </a:prstGeom>
          <a:noFill/>
          <a:ln w="6350">
            <a:solidFill>
              <a:srgbClr val="121C28"/>
            </a:solidFill>
            <a:prstDash val="solid"/>
          </a:ln>
        </p:spPr>
      </p:sp>
      <p:sp>
        <p:nvSpPr>
          <p:cNvPr id="25" name="Shape 23"/>
          <p:cNvSpPr/>
          <p:nvPr/>
        </p:nvSpPr>
        <p:spPr>
          <a:xfrm>
            <a:off x="8321040" y="0"/>
            <a:ext cx="0" cy="5143500"/>
          </a:xfrm>
          <a:prstGeom prst="line">
            <a:avLst/>
          </a:prstGeom>
          <a:noFill/>
          <a:ln w="6350">
            <a:solidFill>
              <a:srgbClr val="121C28"/>
            </a:solidFill>
            <a:prstDash val="solid"/>
          </a:ln>
        </p:spPr>
      </p:sp>
      <p:sp>
        <p:nvSpPr>
          <p:cNvPr id="26" name="Shape 24"/>
          <p:cNvSpPr/>
          <p:nvPr/>
        </p:nvSpPr>
        <p:spPr>
          <a:xfrm>
            <a:off x="8915400" y="0"/>
            <a:ext cx="0" cy="5143500"/>
          </a:xfrm>
          <a:prstGeom prst="line">
            <a:avLst/>
          </a:prstGeom>
          <a:noFill/>
          <a:ln w="6350">
            <a:solidFill>
              <a:srgbClr val="121C28"/>
            </a:solidFill>
            <a:prstDash val="solid"/>
          </a:ln>
        </p:spPr>
      </p:sp>
      <p:sp>
        <p:nvSpPr>
          <p:cNvPr id="27" name="Shape 25"/>
          <p:cNvSpPr/>
          <p:nvPr/>
        </p:nvSpPr>
        <p:spPr>
          <a:xfrm>
            <a:off x="8732520" y="137160"/>
            <a:ext cx="146304" cy="146304"/>
          </a:xfrm>
          <a:prstGeom prst="ellipse">
            <a:avLst/>
          </a:prstGeom>
          <a:solidFill>
            <a:srgbClr val="00FF88"/>
          </a:solidFill>
          <a:ln w="12700">
            <a:solidFill>
              <a:srgbClr val="00FF88"/>
            </a:solidFill>
            <a:prstDash val="solid"/>
          </a:ln>
        </p:spPr>
      </p:sp>
      <p:sp>
        <p:nvSpPr>
          <p:cNvPr id="28" name="Shape 26"/>
          <p:cNvSpPr/>
          <p:nvPr/>
        </p:nvSpPr>
        <p:spPr>
          <a:xfrm>
            <a:off x="384048" y="201168"/>
            <a:ext cx="310896" cy="310896"/>
          </a:xfrm>
          <a:prstGeom prst="rect">
            <a:avLst/>
          </a:prstGeom>
          <a:solidFill>
            <a:srgbClr val="00FF88"/>
          </a:solidFill>
          <a:ln w="12700">
            <a:solidFill>
              <a:srgbClr val="00FF88"/>
            </a:solidFill>
            <a:prstDash val="solid"/>
          </a:ln>
        </p:spPr>
      </p:sp>
      <p:sp>
        <p:nvSpPr>
          <p:cNvPr id="29" name="Text 27"/>
          <p:cNvSpPr/>
          <p:nvPr/>
        </p:nvSpPr>
        <p:spPr>
          <a:xfrm>
            <a:off x="384048" y="201168"/>
            <a:ext cx="310896" cy="310896"/>
          </a:xfrm>
          <a:prstGeom prst="rect">
            <a:avLst/>
          </a:prstGeom>
          <a:noFill/>
          <a:ln/>
        </p:spPr>
        <p:txBody>
          <a:bodyPr wrap="square" lIns="0" tIns="0" rIns="0" bIns="0" rtlCol="0" anchor="ctr"/>
          <a:lstStyle/>
          <a:p>
            <a:pPr algn="ctr" indent="0" marL="0">
              <a:buNone/>
            </a:pPr>
            <a:r>
              <a:rPr lang="en-US" sz="1100" b="1" dirty="0">
                <a:solidFill>
                  <a:srgbClr val="07090F"/>
                </a:solidFill>
                <a:latin typeface="Courier New" pitchFamily="34" charset="0"/>
                <a:ea typeface="Courier New" pitchFamily="34" charset="-122"/>
                <a:cs typeface="Courier New" pitchFamily="34" charset="-120"/>
              </a:rPr>
              <a:t>04</a:t>
            </a:r>
            <a:endParaRPr lang="en-US" sz="1100" dirty="0"/>
          </a:p>
        </p:txBody>
      </p:sp>
      <p:sp>
        <p:nvSpPr>
          <p:cNvPr id="30" name="Text 28"/>
          <p:cNvSpPr/>
          <p:nvPr/>
        </p:nvSpPr>
        <p:spPr>
          <a:xfrm>
            <a:off x="777240" y="201168"/>
            <a:ext cx="7315200" cy="310896"/>
          </a:xfrm>
          <a:prstGeom prst="rect">
            <a:avLst/>
          </a:prstGeom>
          <a:noFill/>
          <a:ln/>
        </p:spPr>
        <p:txBody>
          <a:bodyPr wrap="square" lIns="0" tIns="0" rIns="0" bIns="0" rtlCol="0" anchor="ctr"/>
          <a:lstStyle/>
          <a:p>
            <a:pPr indent="0" marL="0">
              <a:buNone/>
            </a:pPr>
            <a:r>
              <a:rPr lang="en-US" sz="1000" spc="200" kern="0" dirty="0">
                <a:solidFill>
                  <a:srgbClr val="00FF88"/>
                </a:solidFill>
                <a:latin typeface="Courier New" pitchFamily="34" charset="0"/>
                <a:ea typeface="Courier New" pitchFamily="34" charset="-122"/>
                <a:cs typeface="Courier New" pitchFamily="34" charset="-120"/>
              </a:rPr>
              <a:t>CONCLUSION &amp; MY OPINION</a:t>
            </a:r>
            <a:endParaRPr lang="en-US" sz="1000" dirty="0"/>
          </a:p>
        </p:txBody>
      </p:sp>
      <p:sp>
        <p:nvSpPr>
          <p:cNvPr id="31" name="Text 29"/>
          <p:cNvSpPr/>
          <p:nvPr/>
        </p:nvSpPr>
        <p:spPr>
          <a:xfrm>
            <a:off x="411480" y="594360"/>
            <a:ext cx="8229600" cy="1005840"/>
          </a:xfrm>
          <a:prstGeom prst="rect">
            <a:avLst/>
          </a:prstGeom>
          <a:noFill/>
          <a:ln/>
        </p:spPr>
        <p:txBody>
          <a:bodyPr wrap="square" lIns="0" tIns="0" rIns="0" bIns="0" rtlCol="0" anchor="ctr"/>
          <a:lstStyle/>
          <a:p>
            <a:pPr indent="0" marL="0">
              <a:lnSpc>
                <a:spcPct val="120000"/>
              </a:lnSpc>
              <a:buNone/>
            </a:pPr>
            <a:r>
              <a:rPr lang="en-US" sz="3600" b="1" dirty="0">
                <a:solidFill>
                  <a:srgbClr val="FFFFFF"/>
                </a:solidFill>
                <a:latin typeface="Calibri" pitchFamily="34" charset="0"/>
                <a:ea typeface="Calibri" pitchFamily="34" charset="-122"/>
                <a:cs typeface="Calibri" pitchFamily="34" charset="-120"/>
              </a:rPr>
              <a:t>The future of</a:t>
            </a:r>
            <a:endParaRPr lang="en-US" sz="3600" dirty="0"/>
          </a:p>
          <a:p>
            <a:pPr indent="0" marL="0">
              <a:lnSpc>
                <a:spcPct val="120000"/>
              </a:lnSpc>
              <a:buNone/>
            </a:pPr>
            <a:r>
              <a:rPr lang="en-US" sz="3600" b="1" dirty="0">
                <a:solidFill>
                  <a:srgbClr val="FFFFFF"/>
                </a:solidFill>
                <a:latin typeface="Calibri" pitchFamily="34" charset="0"/>
                <a:ea typeface="Calibri" pitchFamily="34" charset="-122"/>
                <a:cs typeface="Calibri" pitchFamily="34" charset="-120"/>
              </a:rPr>
              <a:t>web development</a:t>
            </a:r>
            <a:endParaRPr lang="en-US" sz="3600" dirty="0"/>
          </a:p>
        </p:txBody>
      </p:sp>
      <p:sp>
        <p:nvSpPr>
          <p:cNvPr id="32" name="Shape 30"/>
          <p:cNvSpPr/>
          <p:nvPr/>
        </p:nvSpPr>
        <p:spPr>
          <a:xfrm>
            <a:off x="411480" y="1828800"/>
            <a:ext cx="2724912" cy="2560320"/>
          </a:xfrm>
          <a:prstGeom prst="rect">
            <a:avLst/>
          </a:prstGeom>
          <a:solidFill>
            <a:srgbClr val="111820"/>
          </a:solidFill>
          <a:ln w="12700">
            <a:solidFill>
              <a:srgbClr val="1E2D3D"/>
            </a:solidFill>
            <a:prstDash val="solid"/>
          </a:ln>
          <a:effectLst>
            <a:outerShdw sx="100000" sy="100000" kx="0" ky="0" algn="bl" rotWithShape="0" blurRad="152400" dist="50800" dir="8100000">
              <a:srgbClr val="000000">
                <a:alpha val="35000"/>
              </a:srgbClr>
            </a:outerShdw>
          </a:effectLst>
        </p:spPr>
      </p:sp>
      <p:sp>
        <p:nvSpPr>
          <p:cNvPr id="33" name="Shape 31"/>
          <p:cNvSpPr/>
          <p:nvPr/>
        </p:nvSpPr>
        <p:spPr>
          <a:xfrm>
            <a:off x="411480" y="1828800"/>
            <a:ext cx="2724912" cy="45720"/>
          </a:xfrm>
          <a:prstGeom prst="rect">
            <a:avLst/>
          </a:prstGeom>
          <a:solidFill>
            <a:srgbClr val="00FF88"/>
          </a:solidFill>
          <a:ln w="12700">
            <a:solidFill>
              <a:srgbClr val="00FF88"/>
            </a:solidFill>
            <a:prstDash val="solid"/>
          </a:ln>
        </p:spPr>
      </p:sp>
      <p:sp>
        <p:nvSpPr>
          <p:cNvPr id="34" name="Text 32"/>
          <p:cNvSpPr/>
          <p:nvPr/>
        </p:nvSpPr>
        <p:spPr>
          <a:xfrm>
            <a:off x="1408176" y="1993392"/>
            <a:ext cx="731520" cy="59436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35" name="Text 33"/>
          <p:cNvSpPr/>
          <p:nvPr/>
        </p:nvSpPr>
        <p:spPr>
          <a:xfrm>
            <a:off x="521208" y="2697480"/>
            <a:ext cx="2505456" cy="457200"/>
          </a:xfrm>
          <a:prstGeom prst="rect">
            <a:avLst/>
          </a:prstGeom>
          <a:noFill/>
          <a:ln/>
        </p:spPr>
        <p:txBody>
          <a:bodyPr wrap="square" lIns="0" tIns="0" rIns="0" bIns="0" rtlCol="0" anchor="ctr"/>
          <a:lstStyle/>
          <a:p>
            <a:pPr algn="ctr" indent="0" marL="0">
              <a:lnSpc>
                <a:spcPct val="120000"/>
              </a:lnSpc>
              <a:buNone/>
            </a:pPr>
            <a:r>
              <a:rPr lang="en-US" sz="1300" b="1" dirty="0">
                <a:solidFill>
                  <a:srgbClr val="00FF88"/>
                </a:solidFill>
                <a:latin typeface="Calibri" pitchFamily="34" charset="0"/>
                <a:ea typeface="Calibri" pitchFamily="34" charset="-122"/>
                <a:cs typeface="Calibri" pitchFamily="34" charset="-120"/>
              </a:rPr>
              <a:t>AI accelerates everything</a:t>
            </a:r>
            <a:endParaRPr lang="en-US" sz="1300" dirty="0"/>
          </a:p>
        </p:txBody>
      </p:sp>
      <p:sp>
        <p:nvSpPr>
          <p:cNvPr id="36" name="Text 34"/>
          <p:cNvSpPr/>
          <p:nvPr/>
        </p:nvSpPr>
        <p:spPr>
          <a:xfrm>
            <a:off x="548640" y="3246120"/>
            <a:ext cx="2450592" cy="1005840"/>
          </a:xfrm>
          <a:prstGeom prst="rect">
            <a:avLst/>
          </a:prstGeom>
          <a:noFill/>
          <a:ln/>
        </p:spPr>
        <p:txBody>
          <a:bodyPr wrap="square" lIns="0" tIns="0" rIns="0" bIns="0" rtlCol="0" anchor="ctr"/>
          <a:lstStyle/>
          <a:p>
            <a:pPr indent="0" marL="0">
              <a:lnSpc>
                <a:spcPct val="140000"/>
              </a:lnSpc>
              <a:buNone/>
            </a:pPr>
            <a:r>
              <a:rPr lang="en-US" sz="1150" dirty="0">
                <a:solidFill>
                  <a:srgbClr val="C9D1D9"/>
                </a:solidFill>
                <a:latin typeface="Calibri" pitchFamily="34" charset="0"/>
                <a:ea typeface="Calibri" pitchFamily="34" charset="-122"/>
                <a:cs typeface="Calibri" pitchFamily="34" charset="-120"/>
              </a:rPr>
              <a:t>Prototyping, debugging, testing. Tasks that took days now take hours.</a:t>
            </a:r>
            <a:endParaRPr lang="en-US" sz="1150" dirty="0"/>
          </a:p>
        </p:txBody>
      </p:sp>
      <p:sp>
        <p:nvSpPr>
          <p:cNvPr id="37" name="Shape 35"/>
          <p:cNvSpPr/>
          <p:nvPr/>
        </p:nvSpPr>
        <p:spPr>
          <a:xfrm>
            <a:off x="3319272" y="1828800"/>
            <a:ext cx="2724912" cy="2560320"/>
          </a:xfrm>
          <a:prstGeom prst="rect">
            <a:avLst/>
          </a:prstGeom>
          <a:solidFill>
            <a:srgbClr val="111820"/>
          </a:solidFill>
          <a:ln w="12700">
            <a:solidFill>
              <a:srgbClr val="1E2D3D"/>
            </a:solidFill>
            <a:prstDash val="solid"/>
          </a:ln>
          <a:effectLst>
            <a:outerShdw sx="100000" sy="100000" kx="0" ky="0" algn="bl" rotWithShape="0" blurRad="152400" dist="50800" dir="8100000">
              <a:srgbClr val="000000">
                <a:alpha val="35000"/>
              </a:srgbClr>
            </a:outerShdw>
          </a:effectLst>
        </p:spPr>
      </p:sp>
      <p:sp>
        <p:nvSpPr>
          <p:cNvPr id="38" name="Shape 36"/>
          <p:cNvSpPr/>
          <p:nvPr/>
        </p:nvSpPr>
        <p:spPr>
          <a:xfrm>
            <a:off x="3319272" y="1828800"/>
            <a:ext cx="2724912" cy="45720"/>
          </a:xfrm>
          <a:prstGeom prst="rect">
            <a:avLst/>
          </a:prstGeom>
          <a:solidFill>
            <a:srgbClr val="00D4FF"/>
          </a:solidFill>
          <a:ln w="12700">
            <a:solidFill>
              <a:srgbClr val="00D4FF"/>
            </a:solidFill>
            <a:prstDash val="solid"/>
          </a:ln>
        </p:spPr>
      </p:sp>
      <p:sp>
        <p:nvSpPr>
          <p:cNvPr id="39" name="Text 37"/>
          <p:cNvSpPr/>
          <p:nvPr/>
        </p:nvSpPr>
        <p:spPr>
          <a:xfrm>
            <a:off x="4315968" y="1993392"/>
            <a:ext cx="731520" cy="59436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40" name="Text 38"/>
          <p:cNvSpPr/>
          <p:nvPr/>
        </p:nvSpPr>
        <p:spPr>
          <a:xfrm>
            <a:off x="3429000" y="2697480"/>
            <a:ext cx="2505456" cy="457200"/>
          </a:xfrm>
          <a:prstGeom prst="rect">
            <a:avLst/>
          </a:prstGeom>
          <a:noFill/>
          <a:ln/>
        </p:spPr>
        <p:txBody>
          <a:bodyPr wrap="square" lIns="0" tIns="0" rIns="0" bIns="0" rtlCol="0" anchor="ctr"/>
          <a:lstStyle/>
          <a:p>
            <a:pPr algn="ctr" indent="0" marL="0">
              <a:lnSpc>
                <a:spcPct val="120000"/>
              </a:lnSpc>
              <a:buNone/>
            </a:pPr>
            <a:r>
              <a:rPr lang="en-US" sz="1300" b="1" dirty="0">
                <a:solidFill>
                  <a:srgbClr val="00D4FF"/>
                </a:solidFill>
                <a:latin typeface="Calibri" pitchFamily="34" charset="0"/>
                <a:ea typeface="Calibri" pitchFamily="34" charset="-122"/>
                <a:cs typeface="Calibri" pitchFamily="34" charset="-120"/>
              </a:rPr>
              <a:t>But YOU must understand it</a:t>
            </a:r>
            <a:endParaRPr lang="en-US" sz="1300" dirty="0"/>
          </a:p>
        </p:txBody>
      </p:sp>
      <p:sp>
        <p:nvSpPr>
          <p:cNvPr id="41" name="Text 39"/>
          <p:cNvSpPr/>
          <p:nvPr/>
        </p:nvSpPr>
        <p:spPr>
          <a:xfrm>
            <a:off x="3456432" y="3246120"/>
            <a:ext cx="2450592" cy="1005840"/>
          </a:xfrm>
          <a:prstGeom prst="rect">
            <a:avLst/>
          </a:prstGeom>
          <a:noFill/>
          <a:ln/>
        </p:spPr>
        <p:txBody>
          <a:bodyPr wrap="square" lIns="0" tIns="0" rIns="0" bIns="0" rtlCol="0" anchor="ctr"/>
          <a:lstStyle/>
          <a:p>
            <a:pPr indent="0" marL="0">
              <a:lnSpc>
                <a:spcPct val="140000"/>
              </a:lnSpc>
              <a:buNone/>
            </a:pPr>
            <a:r>
              <a:rPr lang="en-US" sz="1150" dirty="0">
                <a:solidFill>
                  <a:srgbClr val="C9D1D9"/>
                </a:solidFill>
                <a:latin typeface="Calibri" pitchFamily="34" charset="0"/>
                <a:ea typeface="Calibri" pitchFamily="34" charset="-122"/>
                <a:cs typeface="Calibri" pitchFamily="34" charset="-120"/>
              </a:rPr>
              <a:t>AI writes code you own. You need to read, fix and improve it.</a:t>
            </a:r>
            <a:endParaRPr lang="en-US" sz="1150" dirty="0"/>
          </a:p>
        </p:txBody>
      </p:sp>
      <p:sp>
        <p:nvSpPr>
          <p:cNvPr id="42" name="Shape 40"/>
          <p:cNvSpPr/>
          <p:nvPr/>
        </p:nvSpPr>
        <p:spPr>
          <a:xfrm>
            <a:off x="6227064" y="1828800"/>
            <a:ext cx="2724912" cy="2560320"/>
          </a:xfrm>
          <a:prstGeom prst="rect">
            <a:avLst/>
          </a:prstGeom>
          <a:solidFill>
            <a:srgbClr val="111820"/>
          </a:solidFill>
          <a:ln w="12700">
            <a:solidFill>
              <a:srgbClr val="1E2D3D"/>
            </a:solidFill>
            <a:prstDash val="solid"/>
          </a:ln>
          <a:effectLst>
            <a:outerShdw sx="100000" sy="100000" kx="0" ky="0" algn="bl" rotWithShape="0" blurRad="152400" dist="50800" dir="8100000">
              <a:srgbClr val="000000">
                <a:alpha val="35000"/>
              </a:srgbClr>
            </a:outerShdw>
          </a:effectLst>
        </p:spPr>
      </p:sp>
      <p:sp>
        <p:nvSpPr>
          <p:cNvPr id="43" name="Shape 41"/>
          <p:cNvSpPr/>
          <p:nvPr/>
        </p:nvSpPr>
        <p:spPr>
          <a:xfrm>
            <a:off x="6227064" y="1828800"/>
            <a:ext cx="2724912" cy="45720"/>
          </a:xfrm>
          <a:prstGeom prst="rect">
            <a:avLst/>
          </a:prstGeom>
          <a:solidFill>
            <a:srgbClr val="FF6B35"/>
          </a:solidFill>
          <a:ln w="12700">
            <a:solidFill>
              <a:srgbClr val="FF6B35"/>
            </a:solidFill>
            <a:prstDash val="solid"/>
          </a:ln>
        </p:spPr>
      </p:sp>
      <p:sp>
        <p:nvSpPr>
          <p:cNvPr id="44" name="Text 42"/>
          <p:cNvSpPr/>
          <p:nvPr/>
        </p:nvSpPr>
        <p:spPr>
          <a:xfrm>
            <a:off x="7223760" y="1993392"/>
            <a:ext cx="731520" cy="59436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45" name="Text 43"/>
          <p:cNvSpPr/>
          <p:nvPr/>
        </p:nvSpPr>
        <p:spPr>
          <a:xfrm>
            <a:off x="6336792" y="2697480"/>
            <a:ext cx="2505456" cy="457200"/>
          </a:xfrm>
          <a:prstGeom prst="rect">
            <a:avLst/>
          </a:prstGeom>
          <a:noFill/>
          <a:ln/>
        </p:spPr>
        <p:txBody>
          <a:bodyPr wrap="square" lIns="0" tIns="0" rIns="0" bIns="0" rtlCol="0" anchor="ctr"/>
          <a:lstStyle/>
          <a:p>
            <a:pPr algn="ctr" indent="0" marL="0">
              <a:lnSpc>
                <a:spcPct val="120000"/>
              </a:lnSpc>
              <a:buNone/>
            </a:pPr>
            <a:r>
              <a:rPr lang="en-US" sz="1300" b="1" dirty="0">
                <a:solidFill>
                  <a:srgbClr val="FF6B35"/>
                </a:solidFill>
                <a:latin typeface="Calibri" pitchFamily="34" charset="0"/>
                <a:ea typeface="Calibri" pitchFamily="34" charset="-122"/>
                <a:cs typeface="Calibri" pitchFamily="34" charset="-120"/>
              </a:rPr>
              <a:t>It's a skill, not a shortcut</a:t>
            </a:r>
            <a:endParaRPr lang="en-US" sz="1300" dirty="0"/>
          </a:p>
        </p:txBody>
      </p:sp>
      <p:sp>
        <p:nvSpPr>
          <p:cNvPr id="46" name="Text 44"/>
          <p:cNvSpPr/>
          <p:nvPr/>
        </p:nvSpPr>
        <p:spPr>
          <a:xfrm>
            <a:off x="6364224" y="3246120"/>
            <a:ext cx="2450592" cy="1005840"/>
          </a:xfrm>
          <a:prstGeom prst="rect">
            <a:avLst/>
          </a:prstGeom>
          <a:noFill/>
          <a:ln/>
        </p:spPr>
        <p:txBody>
          <a:bodyPr wrap="square" lIns="0" tIns="0" rIns="0" bIns="0" rtlCol="0" anchor="ctr"/>
          <a:lstStyle/>
          <a:p>
            <a:pPr indent="0" marL="0">
              <a:lnSpc>
                <a:spcPct val="140000"/>
              </a:lnSpc>
              <a:buNone/>
            </a:pPr>
            <a:r>
              <a:rPr lang="en-US" sz="1150" dirty="0">
                <a:solidFill>
                  <a:srgbClr val="C9D1D9"/>
                </a:solidFill>
                <a:latin typeface="Calibri" pitchFamily="34" charset="0"/>
                <a:ea typeface="Calibri" pitchFamily="34" charset="-122"/>
                <a:cs typeface="Calibri" pitchFamily="34" charset="-120"/>
              </a:rPr>
              <a:t>Prompt engineering and critical thinking are the new developer superpowers.</a:t>
            </a:r>
            <a:endParaRPr lang="en-US" sz="1150" dirty="0"/>
          </a:p>
        </p:txBody>
      </p:sp>
      <p:sp>
        <p:nvSpPr>
          <p:cNvPr id="47" name="Shape 45"/>
          <p:cNvSpPr/>
          <p:nvPr/>
        </p:nvSpPr>
        <p:spPr>
          <a:xfrm>
            <a:off x="411480" y="4572000"/>
            <a:ext cx="8321040" cy="438912"/>
          </a:xfrm>
          <a:prstGeom prst="rect">
            <a:avLst/>
          </a:prstGeom>
          <a:solidFill>
            <a:srgbClr val="0A1E14"/>
          </a:solidFill>
          <a:ln w="12700">
            <a:solidFill>
              <a:srgbClr val="00FF88"/>
            </a:solidFill>
            <a:prstDash val="solid"/>
          </a:ln>
        </p:spPr>
      </p:sp>
      <p:sp>
        <p:nvSpPr>
          <p:cNvPr id="48" name="Text 46"/>
          <p:cNvSpPr/>
          <p:nvPr/>
        </p:nvSpPr>
        <p:spPr>
          <a:xfrm>
            <a:off x="548640" y="4572000"/>
            <a:ext cx="8138160" cy="438912"/>
          </a:xfrm>
          <a:prstGeom prst="rect">
            <a:avLst/>
          </a:prstGeom>
          <a:noFill/>
          <a:ln/>
        </p:spPr>
        <p:txBody>
          <a:bodyPr wrap="square" lIns="0" tIns="0" rIns="0" bIns="0" rtlCol="0" anchor="ctr"/>
          <a:lstStyle/>
          <a:p>
            <a:pPr indent="0" marL="0">
              <a:buNone/>
            </a:pPr>
            <a:r>
              <a:rPr lang="en-US" sz="1100" i="1" dirty="0">
                <a:solidFill>
                  <a:srgbClr val="00FF88"/>
                </a:solidFill>
                <a:latin typeface="Calibri" pitchFamily="34" charset="0"/>
                <a:ea typeface="Calibri" pitchFamily="34" charset="-122"/>
                <a:cs typeface="Calibri" pitchFamily="34" charset="-120"/>
              </a:rPr>
              <a:t>"The best developers in the next decade won't be the ones who avoid AI — they'll be the ones who master it."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 Web &amp; App Development</dc:title>
  <dc:subject>PptxGenJS Presentation</dc:subject>
  <dc:creator>PptxGenJS</dc:creator>
  <cp:lastModifiedBy>PptxGenJS</cp:lastModifiedBy>
  <cp:revision>1</cp:revision>
  <dcterms:created xsi:type="dcterms:W3CDTF">2026-03-25T19:54:27Z</dcterms:created>
  <dcterms:modified xsi:type="dcterms:W3CDTF">2026-03-25T19:54:27Z</dcterms:modified>
</cp:coreProperties>
</file>